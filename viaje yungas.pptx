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58" r:id="rId5"/>
    <p:sldId id="259" r:id="rId6"/>
    <p:sldId id="260" r:id="rId7"/>
    <p:sldId id="263" r:id="rId8"/>
    <p:sldId id="261" r:id="rId9"/>
    <p:sldId id="262" r:id="rId10"/>
    <p:sldId id="264" r:id="rId11"/>
    <p:sldId id="270" r:id="rId12"/>
    <p:sldId id="266" r:id="rId13"/>
    <p:sldId id="267" r:id="rId14"/>
    <p:sldId id="268" r:id="rId15"/>
    <p:sldId id="269" r:id="rId16"/>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94729"/>
  </p:normalViewPr>
  <p:slideViewPr>
    <p:cSldViewPr snapToGrid="0">
      <p:cViewPr varScale="1">
        <p:scale>
          <a:sx n="105" d="100"/>
          <a:sy n="105" d="100"/>
        </p:scale>
        <p:origin x="208"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647413-B47C-91EF-F5A1-6FCF1C21888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ES_tradnl"/>
          </a:p>
        </p:txBody>
      </p:sp>
      <p:sp>
        <p:nvSpPr>
          <p:cNvPr id="3" name="Subtítulo 2">
            <a:extLst>
              <a:ext uri="{FF2B5EF4-FFF2-40B4-BE49-F238E27FC236}">
                <a16:creationId xmlns:a16="http://schemas.microsoft.com/office/drawing/2014/main" id="{FA5E7696-8AE9-583E-8F1C-302AE6EF0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ES_tradnl"/>
          </a:p>
        </p:txBody>
      </p:sp>
      <p:sp>
        <p:nvSpPr>
          <p:cNvPr id="4" name="Marcador de fecha 3">
            <a:extLst>
              <a:ext uri="{FF2B5EF4-FFF2-40B4-BE49-F238E27FC236}">
                <a16:creationId xmlns:a16="http://schemas.microsoft.com/office/drawing/2014/main" id="{1B47F57F-25CA-335A-14BE-52761649B748}"/>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5" name="Marcador de pie de página 4">
            <a:extLst>
              <a:ext uri="{FF2B5EF4-FFF2-40B4-BE49-F238E27FC236}">
                <a16:creationId xmlns:a16="http://schemas.microsoft.com/office/drawing/2014/main" id="{BB188360-E1BB-58E0-41D8-EBE2ED480969}"/>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7CD5EDC5-0B72-1BCC-FAB9-B5211E74125B}"/>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3706832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B9DA86-F02A-65EB-1BDE-838B3900E62D}"/>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8BD93892-8630-31EA-72BD-A7340777D0B3}"/>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672FCF3D-380A-91C2-745E-75AC923D3968}"/>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5" name="Marcador de pie de página 4">
            <a:extLst>
              <a:ext uri="{FF2B5EF4-FFF2-40B4-BE49-F238E27FC236}">
                <a16:creationId xmlns:a16="http://schemas.microsoft.com/office/drawing/2014/main" id="{04A86EA3-F75D-45DB-E1BA-212FA52C03C2}"/>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9242718B-9D32-EA8B-AC61-ED3B9700836C}"/>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379022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9D4AFF-1781-5EB1-303A-D48008D6548E}"/>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2F67149D-BE91-4987-9C17-512202E977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DBA334E-BE7E-7808-52C2-A9043EF15B50}"/>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5" name="Marcador de pie de página 4">
            <a:extLst>
              <a:ext uri="{FF2B5EF4-FFF2-40B4-BE49-F238E27FC236}">
                <a16:creationId xmlns:a16="http://schemas.microsoft.com/office/drawing/2014/main" id="{EFA45282-42C7-B255-9A27-759F8D342170}"/>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CB99246E-7D8F-C381-7885-5F8F80090CC4}"/>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1932725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24FAD6-A685-040B-7A46-1136E5EC4211}"/>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BA0B02AE-76E2-0023-9F88-BD0C95DCC2D8}"/>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contenido 3">
            <a:extLst>
              <a:ext uri="{FF2B5EF4-FFF2-40B4-BE49-F238E27FC236}">
                <a16:creationId xmlns:a16="http://schemas.microsoft.com/office/drawing/2014/main" id="{62A3E2D7-2998-35E2-C756-38EB7273F9CE}"/>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5" name="Marcador de fecha 4">
            <a:extLst>
              <a:ext uri="{FF2B5EF4-FFF2-40B4-BE49-F238E27FC236}">
                <a16:creationId xmlns:a16="http://schemas.microsoft.com/office/drawing/2014/main" id="{86754FBF-FBF1-FAFB-04E2-8BA441E4B8A9}"/>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6" name="Marcador de pie de página 5">
            <a:extLst>
              <a:ext uri="{FF2B5EF4-FFF2-40B4-BE49-F238E27FC236}">
                <a16:creationId xmlns:a16="http://schemas.microsoft.com/office/drawing/2014/main" id="{83C192FA-2721-DC45-05E3-628235807415}"/>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7C6C6022-7CD0-DD8A-76FD-DF383D612D00}"/>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101489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3C783F-C9C6-C699-CE6B-83A7356F4047}"/>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5D3970A1-8E09-02B8-331F-977C0E5C3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14DC6704-2809-F5C1-AA0F-387C894ABCC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5" name="Marcador de texto 4">
            <a:extLst>
              <a:ext uri="{FF2B5EF4-FFF2-40B4-BE49-F238E27FC236}">
                <a16:creationId xmlns:a16="http://schemas.microsoft.com/office/drawing/2014/main" id="{8E3ED663-83CC-B76F-E795-86AA7FDCB6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9BFD12A-FADD-05EB-B3EC-52050CD2C7E4}"/>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7" name="Marcador de fecha 6">
            <a:extLst>
              <a:ext uri="{FF2B5EF4-FFF2-40B4-BE49-F238E27FC236}">
                <a16:creationId xmlns:a16="http://schemas.microsoft.com/office/drawing/2014/main" id="{8B65A008-2C2C-4232-E501-08C3F478AD41}"/>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8" name="Marcador de pie de página 7">
            <a:extLst>
              <a:ext uri="{FF2B5EF4-FFF2-40B4-BE49-F238E27FC236}">
                <a16:creationId xmlns:a16="http://schemas.microsoft.com/office/drawing/2014/main" id="{A1DD845A-8EB1-578D-D39F-3F4E3B71BF4B}"/>
              </a:ext>
            </a:extLst>
          </p:cNvPr>
          <p:cNvSpPr>
            <a:spLocks noGrp="1"/>
          </p:cNvSpPr>
          <p:nvPr>
            <p:ph type="ftr" sz="quarter" idx="11"/>
          </p:nvPr>
        </p:nvSpPr>
        <p:spPr/>
        <p:txBody>
          <a:bodyPr/>
          <a:lstStyle/>
          <a:p>
            <a:endParaRPr lang="es-ES_tradnl"/>
          </a:p>
        </p:txBody>
      </p:sp>
      <p:sp>
        <p:nvSpPr>
          <p:cNvPr id="9" name="Marcador de número de diapositiva 8">
            <a:extLst>
              <a:ext uri="{FF2B5EF4-FFF2-40B4-BE49-F238E27FC236}">
                <a16:creationId xmlns:a16="http://schemas.microsoft.com/office/drawing/2014/main" id="{79ACD33E-9031-7E9F-39DC-F9C2A6F9BE1F}"/>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522780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12026E-F897-B438-F099-C5F9B5C7F64A}"/>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fecha 2">
            <a:extLst>
              <a:ext uri="{FF2B5EF4-FFF2-40B4-BE49-F238E27FC236}">
                <a16:creationId xmlns:a16="http://schemas.microsoft.com/office/drawing/2014/main" id="{975814A5-B9CF-E385-3A87-45F5165360B0}"/>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4" name="Marcador de pie de página 3">
            <a:extLst>
              <a:ext uri="{FF2B5EF4-FFF2-40B4-BE49-F238E27FC236}">
                <a16:creationId xmlns:a16="http://schemas.microsoft.com/office/drawing/2014/main" id="{006FBF02-1823-2435-79A0-164B6E4D246A}"/>
              </a:ext>
            </a:extLst>
          </p:cNvPr>
          <p:cNvSpPr>
            <a:spLocks noGrp="1"/>
          </p:cNvSpPr>
          <p:nvPr>
            <p:ph type="ftr" sz="quarter" idx="11"/>
          </p:nvPr>
        </p:nvSpPr>
        <p:spPr/>
        <p:txBody>
          <a:bodyPr/>
          <a:lstStyle/>
          <a:p>
            <a:endParaRPr lang="es-ES_tradnl"/>
          </a:p>
        </p:txBody>
      </p:sp>
      <p:sp>
        <p:nvSpPr>
          <p:cNvPr id="5" name="Marcador de número de diapositiva 4">
            <a:extLst>
              <a:ext uri="{FF2B5EF4-FFF2-40B4-BE49-F238E27FC236}">
                <a16:creationId xmlns:a16="http://schemas.microsoft.com/office/drawing/2014/main" id="{1B75A7A8-DC70-3542-6274-BE4DBC6A155E}"/>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64249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906E506-DA74-1B03-29BE-B539121BA2B0}"/>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3" name="Marcador de pie de página 2">
            <a:extLst>
              <a:ext uri="{FF2B5EF4-FFF2-40B4-BE49-F238E27FC236}">
                <a16:creationId xmlns:a16="http://schemas.microsoft.com/office/drawing/2014/main" id="{135074CD-6713-F736-DDB1-5765259AAAFD}"/>
              </a:ext>
            </a:extLst>
          </p:cNvPr>
          <p:cNvSpPr>
            <a:spLocks noGrp="1"/>
          </p:cNvSpPr>
          <p:nvPr>
            <p:ph type="ftr" sz="quarter" idx="11"/>
          </p:nvPr>
        </p:nvSpPr>
        <p:spPr/>
        <p:txBody>
          <a:bodyPr/>
          <a:lstStyle/>
          <a:p>
            <a:endParaRPr lang="es-ES_tradnl"/>
          </a:p>
        </p:txBody>
      </p:sp>
      <p:sp>
        <p:nvSpPr>
          <p:cNvPr id="4" name="Marcador de número de diapositiva 3">
            <a:extLst>
              <a:ext uri="{FF2B5EF4-FFF2-40B4-BE49-F238E27FC236}">
                <a16:creationId xmlns:a16="http://schemas.microsoft.com/office/drawing/2014/main" id="{0C0FD57F-1DCB-ED0E-F1A9-055D704FA3AE}"/>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278488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89174B-1538-933D-3C0F-1E8569627A3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948A8D6B-7BFA-7753-26B4-A1D97778E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texto 3">
            <a:extLst>
              <a:ext uri="{FF2B5EF4-FFF2-40B4-BE49-F238E27FC236}">
                <a16:creationId xmlns:a16="http://schemas.microsoft.com/office/drawing/2014/main" id="{72888B7A-B27F-9815-263C-D43527D20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5255DD23-1ABC-4799-219E-596A853D7B7A}"/>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6" name="Marcador de pie de página 5">
            <a:extLst>
              <a:ext uri="{FF2B5EF4-FFF2-40B4-BE49-F238E27FC236}">
                <a16:creationId xmlns:a16="http://schemas.microsoft.com/office/drawing/2014/main" id="{C899991A-C191-7EA0-3605-886268F0457D}"/>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EF00AE1C-A7A1-8CC5-D691-CA3CB6B7EC6A}"/>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322550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768BCD-8AED-6138-B60E-5AF14D5CC61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S_tradnl"/>
          </a:p>
        </p:txBody>
      </p:sp>
      <p:sp>
        <p:nvSpPr>
          <p:cNvPr id="3" name="Marcador de posición de imagen 2">
            <a:extLst>
              <a:ext uri="{FF2B5EF4-FFF2-40B4-BE49-F238E27FC236}">
                <a16:creationId xmlns:a16="http://schemas.microsoft.com/office/drawing/2014/main" id="{F6A59655-EA7D-262E-E731-9878DEC99C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a:extLst>
              <a:ext uri="{FF2B5EF4-FFF2-40B4-BE49-F238E27FC236}">
                <a16:creationId xmlns:a16="http://schemas.microsoft.com/office/drawing/2014/main" id="{B786901D-EEE9-96FF-380F-350560AF6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B3EDF62-2DCF-4CCE-920D-0C40295BEF30}"/>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6" name="Marcador de pie de página 5">
            <a:extLst>
              <a:ext uri="{FF2B5EF4-FFF2-40B4-BE49-F238E27FC236}">
                <a16:creationId xmlns:a16="http://schemas.microsoft.com/office/drawing/2014/main" id="{DE313F99-CD21-2C8F-EF52-B0F260D5A99E}"/>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C941FE99-D914-339B-0DF5-1509B629FD8F}"/>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2116602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C4120-3683-561A-B79B-2741E61D32BC}"/>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texto vertical 2">
            <a:extLst>
              <a:ext uri="{FF2B5EF4-FFF2-40B4-BE49-F238E27FC236}">
                <a16:creationId xmlns:a16="http://schemas.microsoft.com/office/drawing/2014/main" id="{6FF6DFF3-B5D2-AE66-2590-BEDDEADA335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3EA67619-9E1D-C6B6-A4C6-5C22D9F318F5}"/>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5" name="Marcador de pie de página 4">
            <a:extLst>
              <a:ext uri="{FF2B5EF4-FFF2-40B4-BE49-F238E27FC236}">
                <a16:creationId xmlns:a16="http://schemas.microsoft.com/office/drawing/2014/main" id="{F9620C7D-A987-BABA-0AB2-70FB4CDB8371}"/>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7738287C-01D8-809D-EC52-9CB718F2CBAC}"/>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225520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01AAD5C-606C-172B-BFBF-B80287DE6DB4}"/>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ES_tradnl"/>
          </a:p>
        </p:txBody>
      </p:sp>
      <p:sp>
        <p:nvSpPr>
          <p:cNvPr id="3" name="Marcador de texto vertical 2">
            <a:extLst>
              <a:ext uri="{FF2B5EF4-FFF2-40B4-BE49-F238E27FC236}">
                <a16:creationId xmlns:a16="http://schemas.microsoft.com/office/drawing/2014/main" id="{A6AA73EB-56A3-907B-2DFB-1A9DA1072E10}"/>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88FD74FD-A7C1-90FE-36A3-F8882EDB16AC}"/>
              </a:ext>
            </a:extLst>
          </p:cNvPr>
          <p:cNvSpPr>
            <a:spLocks noGrp="1"/>
          </p:cNvSpPr>
          <p:nvPr>
            <p:ph type="dt" sz="half" idx="10"/>
          </p:nvPr>
        </p:nvSpPr>
        <p:spPr/>
        <p:txBody>
          <a:bodyPr/>
          <a:lstStyle/>
          <a:p>
            <a:fld id="{DE138423-E4D1-134C-9934-1877E1089DFB}" type="datetimeFigureOut">
              <a:rPr lang="es-ES_tradnl" smtClean="0"/>
              <a:t>26/5/26</a:t>
            </a:fld>
            <a:endParaRPr lang="es-ES_tradnl"/>
          </a:p>
        </p:txBody>
      </p:sp>
      <p:sp>
        <p:nvSpPr>
          <p:cNvPr id="5" name="Marcador de pie de página 4">
            <a:extLst>
              <a:ext uri="{FF2B5EF4-FFF2-40B4-BE49-F238E27FC236}">
                <a16:creationId xmlns:a16="http://schemas.microsoft.com/office/drawing/2014/main" id="{3F8B66F4-D55D-B1DE-0245-156DC8531F17}"/>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B7B2E299-36B0-36BD-0DBB-A241A48D4C39}"/>
              </a:ext>
            </a:extLst>
          </p:cNvPr>
          <p:cNvSpPr>
            <a:spLocks noGrp="1"/>
          </p:cNvSpPr>
          <p:nvPr>
            <p:ph type="sldNum" sz="quarter" idx="12"/>
          </p:nvPr>
        </p:nvSpPr>
        <p:spPr/>
        <p:txBody>
          <a:body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3473836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473A355-D469-C6B0-574F-A2FCF6CAC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D1D647CA-FF5A-B191-941D-66ED49A6BF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20127AE8-C5BB-9E48-8F0B-21F9967711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38423-E4D1-134C-9934-1877E1089DFB}" type="datetimeFigureOut">
              <a:rPr lang="es-ES_tradnl" smtClean="0"/>
              <a:t>26/5/26</a:t>
            </a:fld>
            <a:endParaRPr lang="es-ES_tradnl"/>
          </a:p>
        </p:txBody>
      </p:sp>
      <p:sp>
        <p:nvSpPr>
          <p:cNvPr id="5" name="Marcador de pie de página 4">
            <a:extLst>
              <a:ext uri="{FF2B5EF4-FFF2-40B4-BE49-F238E27FC236}">
                <a16:creationId xmlns:a16="http://schemas.microsoft.com/office/drawing/2014/main" id="{DA37D090-14C7-AD10-11A0-4C11160241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Marcador de número de diapositiva 5">
            <a:extLst>
              <a:ext uri="{FF2B5EF4-FFF2-40B4-BE49-F238E27FC236}">
                <a16:creationId xmlns:a16="http://schemas.microsoft.com/office/drawing/2014/main" id="{965C824F-4D41-B637-B71E-445C44C52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4FA406-99DF-2E45-ACEA-1B6E03D6CFF9}" type="slidenum">
              <a:rPr lang="es-ES_tradnl" smtClean="0"/>
              <a:t>‹Nº›</a:t>
            </a:fld>
            <a:endParaRPr lang="es-ES_tradnl"/>
          </a:p>
        </p:txBody>
      </p:sp>
    </p:spTree>
    <p:extLst>
      <p:ext uri="{BB962C8B-B14F-4D97-AF65-F5344CB8AC3E}">
        <p14:creationId xmlns:p14="http://schemas.microsoft.com/office/powerpoint/2010/main" val="1625273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aps.app.goo.gl/BUEQNrnJk6obVbLP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maps.app.goo.gl/pMopojqgaR3Qzde78"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maps.app.goo.gl/4inbSBC54gLJfm5P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shorts/GCNfa5nXoNw"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google.com/search?q=https://www.hospedajeruralsanfrancisco.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F467CF5-F7FB-606F-8A59-FB3F39D83656}"/>
              </a:ext>
            </a:extLst>
          </p:cNvPr>
          <p:cNvSpPr txBox="1"/>
          <p:nvPr/>
        </p:nvSpPr>
        <p:spPr>
          <a:xfrm>
            <a:off x="3335438" y="2174983"/>
            <a:ext cx="5521123" cy="2031325"/>
          </a:xfrm>
          <a:prstGeom prst="rect">
            <a:avLst/>
          </a:prstGeom>
          <a:noFill/>
        </p:spPr>
        <p:txBody>
          <a:bodyPr wrap="square" rtlCol="0">
            <a:spAutoFit/>
          </a:bodyPr>
          <a:lstStyle/>
          <a:p>
            <a:r>
              <a:rPr lang="es-AR" dirty="0">
                <a:effectLst/>
              </a:rPr>
              <a:t>Clima en octubre: Primavera ideal en la zona —días soleados, selva verde y exuberante, temperaturas agradables (18-28°C de día), </a:t>
            </a:r>
          </a:p>
          <a:p>
            <a:r>
              <a:rPr lang="es-AR" dirty="0">
                <a:effectLst/>
              </a:rPr>
              <a:t>menos riesgo de lluvias fuertes que en verano. Noches frescas en altura y humedad en la selva. </a:t>
            </a:r>
            <a:r>
              <a:rPr lang="es-AR" dirty="0" err="1">
                <a:effectLst/>
              </a:rPr>
              <a:t>Llevá</a:t>
            </a:r>
            <a:r>
              <a:rPr lang="es-AR" dirty="0">
                <a:effectLst/>
              </a:rPr>
              <a:t> equipo impermeable y repelente.</a:t>
            </a:r>
          </a:p>
          <a:p>
            <a:endParaRPr lang="es-ES_tradnl" dirty="0"/>
          </a:p>
        </p:txBody>
      </p:sp>
      <p:sp>
        <p:nvSpPr>
          <p:cNvPr id="6" name="CuadroTexto 5">
            <a:extLst>
              <a:ext uri="{FF2B5EF4-FFF2-40B4-BE49-F238E27FC236}">
                <a16:creationId xmlns:a16="http://schemas.microsoft.com/office/drawing/2014/main" id="{EF1F13B6-CEF5-6AE8-5CEE-0CF8AFE3A75B}"/>
              </a:ext>
            </a:extLst>
          </p:cNvPr>
          <p:cNvSpPr txBox="1"/>
          <p:nvPr/>
        </p:nvSpPr>
        <p:spPr>
          <a:xfrm>
            <a:off x="3335438" y="1805651"/>
            <a:ext cx="2191626" cy="369332"/>
          </a:xfrm>
          <a:prstGeom prst="rect">
            <a:avLst/>
          </a:prstGeom>
          <a:noFill/>
        </p:spPr>
        <p:txBody>
          <a:bodyPr wrap="none" rtlCol="0">
            <a:spAutoFit/>
          </a:bodyPr>
          <a:lstStyle/>
          <a:p>
            <a:r>
              <a:rPr lang="es-ES_tradnl" b="1" dirty="0"/>
              <a:t>Fecha 9 al 17 octubre</a:t>
            </a:r>
          </a:p>
        </p:txBody>
      </p:sp>
    </p:spTree>
    <p:extLst>
      <p:ext uri="{BB962C8B-B14F-4D97-AF65-F5344CB8AC3E}">
        <p14:creationId xmlns:p14="http://schemas.microsoft.com/office/powerpoint/2010/main" val="1770270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954942F-E8CB-6698-B0B4-AE580EDCE936}"/>
              </a:ext>
            </a:extLst>
          </p:cNvPr>
          <p:cNvSpPr txBox="1"/>
          <p:nvPr/>
        </p:nvSpPr>
        <p:spPr>
          <a:xfrm>
            <a:off x="3439108" y="2731784"/>
            <a:ext cx="4560992" cy="1477328"/>
          </a:xfrm>
          <a:prstGeom prst="rect">
            <a:avLst/>
          </a:prstGeom>
          <a:noFill/>
        </p:spPr>
        <p:txBody>
          <a:bodyPr wrap="none" rtlCol="0">
            <a:spAutoFit/>
          </a:bodyPr>
          <a:lstStyle/>
          <a:p>
            <a:r>
              <a:rPr lang="es-ES_tradnl" dirty="0"/>
              <a:t>SALIDA GOLFERS PILAR / BSAS</a:t>
            </a:r>
          </a:p>
          <a:p>
            <a:r>
              <a:rPr lang="es-ES_tradnl" dirty="0"/>
              <a:t>DESTINO TAFI DEL VALLE / TUCUMAN  TAFI</a:t>
            </a:r>
          </a:p>
          <a:p>
            <a:endParaRPr lang="es-ES_tradnl" dirty="0"/>
          </a:p>
          <a:p>
            <a:r>
              <a:rPr lang="es-ES_tradnl" dirty="0">
                <a:hlinkClick r:id="rId2"/>
              </a:rPr>
              <a:t>https://maps.app.goo.gl/BUEQNrnJk6obVbLP9</a:t>
            </a:r>
            <a:endParaRPr lang="es-ES_tradnl" dirty="0"/>
          </a:p>
          <a:p>
            <a:endParaRPr lang="es-ES_tradnl" dirty="0"/>
          </a:p>
        </p:txBody>
      </p:sp>
    </p:spTree>
    <p:extLst>
      <p:ext uri="{BB962C8B-B14F-4D97-AF65-F5344CB8AC3E}">
        <p14:creationId xmlns:p14="http://schemas.microsoft.com/office/powerpoint/2010/main" val="2880823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2031325"/>
          </a:xfrm>
          <a:prstGeom prst="rect">
            <a:avLst/>
          </a:prstGeom>
          <a:noFill/>
        </p:spPr>
        <p:txBody>
          <a:bodyPr wrap="square">
            <a:spAutoFit/>
          </a:bodyPr>
          <a:lstStyle/>
          <a:p>
            <a:pPr>
              <a:buNone/>
            </a:pPr>
            <a:r>
              <a:rPr lang="es-AR" dirty="0">
                <a:effectLst/>
              </a:rPr>
              <a:t>Día 1 – 10 oct: Tafí del Valle – Camino de las Mil Curvas + Yungas tucumanas (≈ 140-160 km, curvas intensas + selva) Salida temprana por la RP 307 (el famoso Camino de las Mil Curvas). Bajada épica con miradores, ríos, cascadas y vegetación que se vuelve cada vez más tupida. Paradas para fotos, café y algún pozo natural. Noche en Tafí del Valle (día de aclimatación y chequeo final de motos/nafta).</a:t>
            </a:r>
          </a:p>
        </p:txBody>
      </p:sp>
      <p:sp>
        <p:nvSpPr>
          <p:cNvPr id="7" name="CuadroTexto 6">
            <a:extLst>
              <a:ext uri="{FF2B5EF4-FFF2-40B4-BE49-F238E27FC236}">
                <a16:creationId xmlns:a16="http://schemas.microsoft.com/office/drawing/2014/main" id="{377EA87B-227E-98FD-648A-2A78A1B2B166}"/>
              </a:ext>
            </a:extLst>
          </p:cNvPr>
          <p:cNvSpPr txBox="1"/>
          <p:nvPr/>
        </p:nvSpPr>
        <p:spPr>
          <a:xfrm>
            <a:off x="3047036" y="4832959"/>
            <a:ext cx="6094070" cy="1200329"/>
          </a:xfrm>
          <a:prstGeom prst="rect">
            <a:avLst/>
          </a:prstGeom>
          <a:noFill/>
        </p:spPr>
        <p:txBody>
          <a:bodyPr wrap="square">
            <a:spAutoFit/>
          </a:bodyPr>
          <a:lstStyle/>
          <a:p>
            <a:r>
              <a:rPr lang="es-ES_tradnl" dirty="0">
                <a:hlinkClick r:id="rId2"/>
              </a:rPr>
              <a:t>https://maps.app.goo.gl/pMopojqgaR3Qzde78</a:t>
            </a:r>
            <a:endParaRPr lang="es-ES_tradnl" dirty="0"/>
          </a:p>
          <a:p>
            <a:pPr fontAlgn="base"/>
            <a:r>
              <a:rPr lang="es-AR" dirty="0"/>
              <a:t>DIA 1 / 2 h 9 min (107 km)</a:t>
            </a:r>
          </a:p>
          <a:p>
            <a:pPr fontAlgn="t"/>
            <a:r>
              <a:rPr lang="es-AR" dirty="0"/>
              <a:t>por RP307</a:t>
            </a:r>
          </a:p>
          <a:p>
            <a:endParaRPr lang="es-ES_tradnl" dirty="0"/>
          </a:p>
        </p:txBody>
      </p:sp>
    </p:spTree>
    <p:extLst>
      <p:ext uri="{BB962C8B-B14F-4D97-AF65-F5344CB8AC3E}">
        <p14:creationId xmlns:p14="http://schemas.microsoft.com/office/powerpoint/2010/main" val="809700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2585323"/>
          </a:xfrm>
          <a:prstGeom prst="rect">
            <a:avLst/>
          </a:prstGeom>
          <a:noFill/>
        </p:spPr>
        <p:txBody>
          <a:bodyPr wrap="square">
            <a:spAutoFit/>
          </a:bodyPr>
          <a:lstStyle/>
          <a:p>
            <a:r>
              <a:rPr lang="es-AR" dirty="0">
                <a:effectLst/>
              </a:rPr>
              <a:t>Día 2 – 11 oct: Tafí → Salta por Valles Calchaquíes (≈ 290-310 km, asfalto escénico) Ruta por RN 40 + RN 68 (paisajes que cambian de montaña a valles verdes). Paradas recomendadas: </a:t>
            </a:r>
            <a:r>
              <a:rPr lang="es-AR" dirty="0" err="1">
                <a:effectLst/>
              </a:rPr>
              <a:t>Amaicha</a:t>
            </a:r>
            <a:r>
              <a:rPr lang="es-AR" dirty="0">
                <a:effectLst/>
              </a:rPr>
              <a:t>, Santa María o Cafayate si </a:t>
            </a:r>
            <a:r>
              <a:rPr lang="es-AR" dirty="0" err="1">
                <a:effectLst/>
              </a:rPr>
              <a:t>querés</a:t>
            </a:r>
            <a:r>
              <a:rPr lang="es-AR" dirty="0">
                <a:effectLst/>
              </a:rPr>
              <a:t> estirar un poco (vinos y quebrada). Llegada a Salta para cargar todo. Noche en Salta (hoteles cómodos, buena comida y nafta full).</a:t>
            </a:r>
          </a:p>
          <a:p>
            <a:endParaRPr lang="es-AR" dirty="0"/>
          </a:p>
          <a:p>
            <a:r>
              <a:rPr lang="es-AR" dirty="0">
                <a:effectLst/>
                <a:hlinkClick r:id="rId2"/>
              </a:rPr>
              <a:t>https://maps.app.goo.gl/4inbSBC54gLJfm5PA</a:t>
            </a:r>
            <a:endParaRPr lang="es-AR" dirty="0">
              <a:effectLst/>
            </a:endParaRPr>
          </a:p>
          <a:p>
            <a:endParaRPr lang="es-AR" dirty="0">
              <a:effectLst/>
            </a:endParaRPr>
          </a:p>
        </p:txBody>
      </p:sp>
    </p:spTree>
    <p:extLst>
      <p:ext uri="{BB962C8B-B14F-4D97-AF65-F5344CB8AC3E}">
        <p14:creationId xmlns:p14="http://schemas.microsoft.com/office/powerpoint/2010/main" val="195858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2031325"/>
          </a:xfrm>
          <a:prstGeom prst="rect">
            <a:avLst/>
          </a:prstGeom>
          <a:noFill/>
        </p:spPr>
        <p:txBody>
          <a:bodyPr wrap="square">
            <a:spAutoFit/>
          </a:bodyPr>
          <a:lstStyle/>
          <a:p>
            <a:r>
              <a:rPr lang="es-AR" dirty="0">
                <a:effectLst/>
              </a:rPr>
              <a:t>Día 3 – 12 oct: Salta → Camino de la Cornisa + entrada a Yungas jujeñas (≈ 200-230 km, cornisa pura) Tomás la legendaria RN 9 Camino de la Cornisa (curvas infinitas en plena selva subtropical, precipicios verdes y vegetación que te envuelve). Seguís por RN 34 hasta Libertador General San Martín / Ledesma. Noche en Ledesma o San Francisco (ya metidos en las Yungas, hospedajes rústicos o camping con selva alrededor).</a:t>
            </a:r>
          </a:p>
        </p:txBody>
      </p:sp>
    </p:spTree>
    <p:extLst>
      <p:ext uri="{BB962C8B-B14F-4D97-AF65-F5344CB8AC3E}">
        <p14:creationId xmlns:p14="http://schemas.microsoft.com/office/powerpoint/2010/main" val="2515618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2585323"/>
          </a:xfrm>
          <a:prstGeom prst="rect">
            <a:avLst/>
          </a:prstGeom>
          <a:noFill/>
        </p:spPr>
        <p:txBody>
          <a:bodyPr wrap="square">
            <a:spAutoFit/>
          </a:bodyPr>
          <a:lstStyle/>
          <a:p>
            <a:r>
              <a:rPr lang="es-AR" dirty="0">
                <a:effectLst/>
              </a:rPr>
              <a:t>Día 4 – 13 oct: Día full off-</a:t>
            </a:r>
            <a:r>
              <a:rPr lang="es-AR" dirty="0" err="1">
                <a:effectLst/>
              </a:rPr>
              <a:t>road</a:t>
            </a:r>
            <a:r>
              <a:rPr lang="es-AR" dirty="0">
                <a:effectLst/>
              </a:rPr>
              <a:t> en Parque Nacional Calilegua (≈ 140-180 km, ripio + selva) </a:t>
            </a:r>
            <a:r>
              <a:rPr lang="es-AR" dirty="0" err="1">
                <a:effectLst/>
              </a:rPr>
              <a:t>Entrás</a:t>
            </a:r>
            <a:r>
              <a:rPr lang="es-AR" dirty="0">
                <a:effectLst/>
              </a:rPr>
              <a:t> por la RP 83 (la ruta más hermosa de las Yungas). Tramos de ripio técnico, cornisa, cruces de ríos chicos, cascadas (Garganta del Diablo, Pozo del Tapir, Fuente del Jaguar, Salto del Nogalar). Senderos cortos para motos y mucha fauna (monos, tucanes, etc.). Día para disfrutar sin apuro. Noche en San Francisco o Valle Grande (corazón de las Yungas, ambiente súper inmersivo —hospedajes familiares o camping agreste).</a:t>
            </a:r>
          </a:p>
        </p:txBody>
      </p:sp>
      <p:sp>
        <p:nvSpPr>
          <p:cNvPr id="3" name="CuadroTexto 2">
            <a:extLst>
              <a:ext uri="{FF2B5EF4-FFF2-40B4-BE49-F238E27FC236}">
                <a16:creationId xmlns:a16="http://schemas.microsoft.com/office/drawing/2014/main" id="{DA0FE452-F5EA-9D19-BA86-A999B189ADD9}"/>
              </a:ext>
            </a:extLst>
          </p:cNvPr>
          <p:cNvSpPr txBox="1"/>
          <p:nvPr/>
        </p:nvSpPr>
        <p:spPr>
          <a:xfrm>
            <a:off x="3055717" y="5481934"/>
            <a:ext cx="6094070" cy="923330"/>
          </a:xfrm>
          <a:prstGeom prst="rect">
            <a:avLst/>
          </a:prstGeom>
          <a:noFill/>
        </p:spPr>
        <p:txBody>
          <a:bodyPr wrap="square">
            <a:spAutoFit/>
          </a:bodyPr>
          <a:lstStyle/>
          <a:p>
            <a:r>
              <a:rPr lang="es-ES_tradnl" dirty="0"/>
              <a:t>https://</a:t>
            </a:r>
            <a:r>
              <a:rPr lang="es-ES_tradnl" dirty="0" err="1"/>
              <a:t>www.tiktok.com</a:t>
            </a:r>
            <a:r>
              <a:rPr lang="es-ES_tradnl" dirty="0"/>
              <a:t>/@</a:t>
            </a:r>
            <a:r>
              <a:rPr lang="es-ES_tradnl" dirty="0" err="1"/>
              <a:t>gasti_pormontanias</a:t>
            </a:r>
            <a:r>
              <a:rPr lang="es-ES_tradnl" dirty="0"/>
              <a:t>/video/7566091358587342087?q=PARQUE%20CALILEGUA%20MOTO&amp;t=1776024841174</a:t>
            </a:r>
          </a:p>
        </p:txBody>
      </p:sp>
    </p:spTree>
    <p:extLst>
      <p:ext uri="{BB962C8B-B14F-4D97-AF65-F5344CB8AC3E}">
        <p14:creationId xmlns:p14="http://schemas.microsoft.com/office/powerpoint/2010/main" val="2235506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2031325"/>
          </a:xfrm>
          <a:prstGeom prst="rect">
            <a:avLst/>
          </a:prstGeom>
          <a:noFill/>
        </p:spPr>
        <p:txBody>
          <a:bodyPr wrap="square">
            <a:spAutoFit/>
          </a:bodyPr>
          <a:lstStyle/>
          <a:p>
            <a:r>
              <a:rPr lang="es-AR" dirty="0">
                <a:effectLst/>
              </a:rPr>
              <a:t>Día 5 – 14 oct: Exploración profunda RP 83 + más Yungas (≈ 160-200 km, ripio y exploración) Mañana para repetir lo mejor de Calilegua o subir más por RP 83 hacia Santa Ana o miradores (amaneceres con nubes entre montañas). Tarde para </a:t>
            </a:r>
            <a:r>
              <a:rPr lang="es-AR" dirty="0" err="1">
                <a:effectLst/>
              </a:rPr>
              <a:t>trekkings</a:t>
            </a:r>
            <a:r>
              <a:rPr lang="es-AR" dirty="0">
                <a:effectLst/>
              </a:rPr>
              <a:t> cortos a pie (Fuente del Jaguar o Termas del Jordán si </a:t>
            </a:r>
            <a:r>
              <a:rPr lang="es-AR" dirty="0" err="1">
                <a:effectLst/>
              </a:rPr>
              <a:t>querés</a:t>
            </a:r>
            <a:r>
              <a:rPr lang="es-AR" dirty="0">
                <a:effectLst/>
              </a:rPr>
              <a:t>). Noche nuevamente en San Francisco / Valle Grande (segunda noche para relajarte en la selva sin moverte mucho).</a:t>
            </a:r>
          </a:p>
        </p:txBody>
      </p:sp>
      <p:sp>
        <p:nvSpPr>
          <p:cNvPr id="3" name="CuadroTexto 2">
            <a:extLst>
              <a:ext uri="{FF2B5EF4-FFF2-40B4-BE49-F238E27FC236}">
                <a16:creationId xmlns:a16="http://schemas.microsoft.com/office/drawing/2014/main" id="{ACA82849-D005-1F0E-65EB-80630CB1EE62}"/>
              </a:ext>
            </a:extLst>
          </p:cNvPr>
          <p:cNvSpPr txBox="1"/>
          <p:nvPr/>
        </p:nvSpPr>
        <p:spPr>
          <a:xfrm>
            <a:off x="3048965" y="4995004"/>
            <a:ext cx="6094070" cy="369332"/>
          </a:xfrm>
          <a:prstGeom prst="rect">
            <a:avLst/>
          </a:prstGeom>
          <a:noFill/>
        </p:spPr>
        <p:txBody>
          <a:bodyPr wrap="square">
            <a:spAutoFit/>
          </a:bodyPr>
          <a:lstStyle/>
          <a:p>
            <a:r>
              <a:rPr lang="es-ES_tradnl" dirty="0" err="1"/>
              <a:t>Caspala</a:t>
            </a:r>
            <a:r>
              <a:rPr lang="es-ES_tradnl" dirty="0"/>
              <a:t> https://</a:t>
            </a:r>
            <a:r>
              <a:rPr lang="es-ES_tradnl" dirty="0" err="1"/>
              <a:t>www.youtube.com</a:t>
            </a:r>
            <a:r>
              <a:rPr lang="es-ES_tradnl" dirty="0"/>
              <a:t>/</a:t>
            </a:r>
            <a:r>
              <a:rPr lang="es-ES_tradnl" dirty="0" err="1"/>
              <a:t>watch?v</a:t>
            </a:r>
            <a:r>
              <a:rPr lang="es-ES_tradnl" dirty="0"/>
              <a:t>=o86OA96sebA</a:t>
            </a:r>
          </a:p>
        </p:txBody>
      </p:sp>
    </p:spTree>
    <p:extLst>
      <p:ext uri="{BB962C8B-B14F-4D97-AF65-F5344CB8AC3E}">
        <p14:creationId xmlns:p14="http://schemas.microsoft.com/office/powerpoint/2010/main" val="1275980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1754326"/>
          </a:xfrm>
          <a:prstGeom prst="rect">
            <a:avLst/>
          </a:prstGeom>
          <a:noFill/>
        </p:spPr>
        <p:txBody>
          <a:bodyPr wrap="square">
            <a:spAutoFit/>
          </a:bodyPr>
          <a:lstStyle/>
          <a:p>
            <a:r>
              <a:rPr lang="es-AR" dirty="0">
                <a:effectLst/>
              </a:rPr>
              <a:t>Día 6 – 15 oct: Salida de las Yungas + regreso hacia Salta (≈ 220-260 km, cornisa + asfalto) </a:t>
            </a:r>
            <a:r>
              <a:rPr lang="es-AR" dirty="0" err="1">
                <a:effectLst/>
              </a:rPr>
              <a:t>Volvés</a:t>
            </a:r>
            <a:r>
              <a:rPr lang="es-AR" dirty="0">
                <a:effectLst/>
              </a:rPr>
              <a:t> por la RN 9 Cornisa (mismo tramo pero en sentido contrario, siempre se ve distinto). Paradas extras para fotos o café en miradores. Llegada a Salta por la tarde. Noche en Salta (descanso, ducha caliente y recarga de todo).</a:t>
            </a:r>
          </a:p>
        </p:txBody>
      </p:sp>
    </p:spTree>
    <p:extLst>
      <p:ext uri="{BB962C8B-B14F-4D97-AF65-F5344CB8AC3E}">
        <p14:creationId xmlns:p14="http://schemas.microsoft.com/office/powerpoint/2010/main" val="47078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03AA4A3-FA75-E14B-614F-A135B1ED6640}"/>
              </a:ext>
            </a:extLst>
          </p:cNvPr>
          <p:cNvSpPr txBox="1"/>
          <p:nvPr/>
        </p:nvSpPr>
        <p:spPr>
          <a:xfrm>
            <a:off x="3049929" y="2416231"/>
            <a:ext cx="6099858" cy="1477328"/>
          </a:xfrm>
          <a:prstGeom prst="rect">
            <a:avLst/>
          </a:prstGeom>
          <a:noFill/>
        </p:spPr>
        <p:txBody>
          <a:bodyPr wrap="square">
            <a:spAutoFit/>
          </a:bodyPr>
          <a:lstStyle/>
          <a:p>
            <a:r>
              <a:rPr lang="es-AR" dirty="0">
                <a:effectLst/>
              </a:rPr>
              <a:t>Día 7 – 16 oct: Salta → Tafí del Valle (cierre del </a:t>
            </a:r>
            <a:r>
              <a:rPr lang="es-AR" dirty="0" err="1">
                <a:effectLst/>
              </a:rPr>
              <a:t>loop</a:t>
            </a:r>
            <a:r>
              <a:rPr lang="es-AR" dirty="0">
                <a:effectLst/>
              </a:rPr>
              <a:t>, ≈ 290-310 km, asfalto escénico) Regreso tranquilo por el mismo camino de ida (o </a:t>
            </a:r>
            <a:r>
              <a:rPr lang="es-AR" dirty="0" err="1">
                <a:effectLst/>
              </a:rPr>
              <a:t>variás</a:t>
            </a:r>
            <a:r>
              <a:rPr lang="es-AR" dirty="0">
                <a:effectLst/>
              </a:rPr>
              <a:t> un poco si </a:t>
            </a:r>
            <a:r>
              <a:rPr lang="es-AR" dirty="0" err="1">
                <a:effectLst/>
              </a:rPr>
              <a:t>querés</a:t>
            </a:r>
            <a:r>
              <a:rPr lang="es-AR" dirty="0">
                <a:effectLst/>
              </a:rPr>
              <a:t>). Paradas para almorzar y fotos finales. Llegada a Tafí por la tarde/noche. Fin del viaje con un asado o relax.</a:t>
            </a:r>
          </a:p>
        </p:txBody>
      </p:sp>
    </p:spTree>
    <p:extLst>
      <p:ext uri="{BB962C8B-B14F-4D97-AF65-F5344CB8AC3E}">
        <p14:creationId xmlns:p14="http://schemas.microsoft.com/office/powerpoint/2010/main" val="2665388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68B3F-72F0-5247-1CC1-90892CD88D5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B0F21FE-146A-7BDC-5917-E3269A62D1A4}"/>
              </a:ext>
            </a:extLst>
          </p:cNvPr>
          <p:cNvSpPr txBox="1"/>
          <p:nvPr/>
        </p:nvSpPr>
        <p:spPr>
          <a:xfrm>
            <a:off x="3061504" y="2416231"/>
            <a:ext cx="6099858" cy="1200329"/>
          </a:xfrm>
          <a:prstGeom prst="rect">
            <a:avLst/>
          </a:prstGeom>
          <a:noFill/>
        </p:spPr>
        <p:txBody>
          <a:bodyPr wrap="square">
            <a:spAutoFit/>
          </a:bodyPr>
          <a:lstStyle/>
          <a:p>
            <a:r>
              <a:rPr lang="es-AR" dirty="0">
                <a:effectLst/>
              </a:rPr>
              <a:t>+</a:t>
            </a:r>
            <a:r>
              <a:rPr lang="es-AR" dirty="0" err="1">
                <a:effectLst/>
              </a:rPr>
              <a:t>caspala</a:t>
            </a:r>
            <a:endParaRPr lang="es-AR" dirty="0"/>
          </a:p>
          <a:p>
            <a:r>
              <a:rPr lang="es-AR" dirty="0">
                <a:effectLst/>
                <a:hlinkClick r:id="rId2"/>
              </a:rPr>
              <a:t>https://www.youtube.com/shorts/GCNfa5nXoNw</a:t>
            </a:r>
            <a:endParaRPr lang="es-AR" dirty="0">
              <a:effectLst/>
            </a:endParaRPr>
          </a:p>
          <a:p>
            <a:endParaRPr lang="es-AR" dirty="0">
              <a:effectLst/>
            </a:endParaRPr>
          </a:p>
          <a:p>
            <a:endParaRPr lang="es-AR" dirty="0">
              <a:effectLst/>
            </a:endParaRPr>
          </a:p>
        </p:txBody>
      </p:sp>
    </p:spTree>
    <p:extLst>
      <p:ext uri="{BB962C8B-B14F-4D97-AF65-F5344CB8AC3E}">
        <p14:creationId xmlns:p14="http://schemas.microsoft.com/office/powerpoint/2010/main" val="3182976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4AF931-C286-5D95-6305-C2E290E29043}"/>
              </a:ext>
            </a:extLst>
          </p:cNvPr>
          <p:cNvSpPr>
            <a:spLocks noGrp="1"/>
          </p:cNvSpPr>
          <p:nvPr>
            <p:ph type="title"/>
          </p:nvPr>
        </p:nvSpPr>
        <p:spPr/>
        <p:txBody>
          <a:bodyPr/>
          <a:lstStyle/>
          <a:p>
            <a:r>
              <a:rPr lang="es-ES_tradnl" dirty="0"/>
              <a:t>Alojamiento</a:t>
            </a:r>
            <a:br>
              <a:rPr lang="es-ES_tradnl" dirty="0"/>
            </a:br>
            <a:endParaRPr lang="es-ES_tradnl" dirty="0"/>
          </a:p>
        </p:txBody>
      </p:sp>
      <p:sp>
        <p:nvSpPr>
          <p:cNvPr id="3" name="Marcador de contenido 2">
            <a:extLst>
              <a:ext uri="{FF2B5EF4-FFF2-40B4-BE49-F238E27FC236}">
                <a16:creationId xmlns:a16="http://schemas.microsoft.com/office/drawing/2014/main" id="{D2E87531-4F09-9473-F42A-98A0DB31C60C}"/>
              </a:ext>
            </a:extLst>
          </p:cNvPr>
          <p:cNvSpPr>
            <a:spLocks noGrp="1"/>
          </p:cNvSpPr>
          <p:nvPr>
            <p:ph idx="1"/>
          </p:nvPr>
        </p:nvSpPr>
        <p:spPr/>
        <p:txBody>
          <a:bodyPr/>
          <a:lstStyle/>
          <a:p>
            <a:endParaRPr lang="es-ES_tradnl"/>
          </a:p>
        </p:txBody>
      </p:sp>
    </p:spTree>
    <p:extLst>
      <p:ext uri="{BB962C8B-B14F-4D97-AF65-F5344CB8AC3E}">
        <p14:creationId xmlns:p14="http://schemas.microsoft.com/office/powerpoint/2010/main" val="103351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F890939-2CE4-4E87-D228-08C1684861BA}"/>
              </a:ext>
            </a:extLst>
          </p:cNvPr>
          <p:cNvSpPr txBox="1"/>
          <p:nvPr/>
        </p:nvSpPr>
        <p:spPr>
          <a:xfrm>
            <a:off x="757804" y="545434"/>
            <a:ext cx="10914927" cy="5078313"/>
          </a:xfrm>
          <a:prstGeom prst="rect">
            <a:avLst/>
          </a:prstGeom>
          <a:noFill/>
        </p:spPr>
        <p:txBody>
          <a:bodyPr wrap="square">
            <a:spAutoFit/>
          </a:bodyPr>
          <a:lstStyle/>
          <a:p>
            <a:r>
              <a:rPr lang="es-AR" b="1" dirty="0"/>
              <a:t>1. Tafí del Valle → Salta (El inicio histórico)</a:t>
            </a:r>
          </a:p>
          <a:p>
            <a:r>
              <a:rPr lang="es-AR" b="1" dirty="0"/>
              <a:t>Histórico:</a:t>
            </a:r>
            <a:r>
              <a:rPr lang="es-AR" dirty="0"/>
              <a:t> </a:t>
            </a:r>
            <a:r>
              <a:rPr lang="es-AR" b="1" dirty="0"/>
              <a:t>Ciudad Sagrada de Quilmes</a:t>
            </a:r>
            <a:r>
              <a:rPr lang="es-AR" dirty="0"/>
              <a:t>. Es una parada obligatoria sobre la RN 40. Es uno de los asentamientos prehispánicos más importantes de Argentina. Caminar hasta la fortaleza superior te da una perspectiva única del valle.</a:t>
            </a:r>
          </a:p>
          <a:p>
            <a:r>
              <a:rPr lang="es-AR" b="1" dirty="0"/>
              <a:t>Único:</a:t>
            </a:r>
            <a:r>
              <a:rPr lang="es-AR" dirty="0"/>
              <a:t> </a:t>
            </a:r>
            <a:r>
              <a:rPr lang="es-AR" b="1" dirty="0"/>
              <a:t>Quebrada de las Flechas (Ruta 40)</a:t>
            </a:r>
            <a:r>
              <a:rPr lang="es-AR" dirty="0"/>
              <a:t>. Entre Cafayate y Salta, estas formaciones rocosas puntiagudas e inclinadas crean un paisaje lunar que parece diseñado para recorrer en moto.</a:t>
            </a:r>
          </a:p>
          <a:p>
            <a:r>
              <a:rPr lang="es-AR" b="1" dirty="0"/>
              <a:t>Gastronómico:</a:t>
            </a:r>
            <a:endParaRPr lang="es-AR" dirty="0"/>
          </a:p>
          <a:p>
            <a:pPr lvl="1"/>
            <a:r>
              <a:rPr lang="es-AR" b="1" dirty="0"/>
              <a:t>En Tafí:</a:t>
            </a:r>
            <a:r>
              <a:rPr lang="es-AR" dirty="0"/>
              <a:t> </a:t>
            </a:r>
            <a:r>
              <a:rPr lang="es-AR" i="1" dirty="0"/>
              <a:t>Rancho de </a:t>
            </a:r>
            <a:r>
              <a:rPr lang="es-AR" i="1" dirty="0" err="1"/>
              <a:t>Felix</a:t>
            </a:r>
            <a:r>
              <a:rPr lang="es-AR" dirty="0"/>
              <a:t> o </a:t>
            </a:r>
            <a:r>
              <a:rPr lang="es-AR" i="1" dirty="0"/>
              <a:t>Los Morenos</a:t>
            </a:r>
            <a:r>
              <a:rPr lang="es-AR" dirty="0"/>
              <a:t> para comer empanadas tucumanas auténticas (con carne cortada a cuchillo).</a:t>
            </a:r>
          </a:p>
          <a:p>
            <a:pPr lvl="1"/>
            <a:r>
              <a:rPr lang="es-AR" b="1" dirty="0"/>
              <a:t>En Cafayate:</a:t>
            </a:r>
            <a:r>
              <a:rPr lang="es-AR" dirty="0"/>
              <a:t> Una parada rápida en la heladería </a:t>
            </a:r>
            <a:r>
              <a:rPr lang="es-AR" i="1" dirty="0"/>
              <a:t>Miranda</a:t>
            </a:r>
            <a:r>
              <a:rPr lang="es-AR" dirty="0"/>
              <a:t> para probar el helado de vino Torrontés o Cabernet.</a:t>
            </a:r>
          </a:p>
          <a:p>
            <a:r>
              <a:rPr lang="es-AR" b="1" dirty="0"/>
              <a:t>2. Salta → San Francisco (La selva y el vértigo)</a:t>
            </a:r>
          </a:p>
          <a:p>
            <a:r>
              <a:rPr lang="es-AR" b="1" dirty="0"/>
              <a:t>Paisajístico:</a:t>
            </a:r>
            <a:r>
              <a:rPr lang="es-AR" dirty="0"/>
              <a:t> El </a:t>
            </a:r>
            <a:r>
              <a:rPr lang="es-AR" b="1" dirty="0"/>
              <a:t>Camino de la Cornisa (RN 9)</a:t>
            </a:r>
            <a:r>
              <a:rPr lang="es-AR" dirty="0"/>
              <a:t> es en sí mismo el atractivo. Es una selva cerrada donde los helechos golpean los espejos de la moto.</a:t>
            </a:r>
          </a:p>
          <a:p>
            <a:r>
              <a:rPr lang="es-AR" b="1" dirty="0"/>
              <a:t>Único (San Francisco):</a:t>
            </a:r>
            <a:r>
              <a:rPr lang="es-AR" dirty="0"/>
              <a:t> </a:t>
            </a:r>
            <a:r>
              <a:rPr lang="es-AR" b="1" dirty="0"/>
              <a:t>Termas del Jordán</a:t>
            </a:r>
            <a:r>
              <a:rPr lang="es-AR" dirty="0"/>
              <a:t>. Cerca del pueblo de San Francisco, son ojos de agua color turquesa en medio de la vegetación selvática (</a:t>
            </a:r>
            <a:r>
              <a:rPr lang="es-AR" dirty="0" err="1"/>
              <a:t>consultá</a:t>
            </a:r>
            <a:r>
              <a:rPr lang="es-AR" dirty="0"/>
              <a:t> por el guía local para ir). También la </a:t>
            </a:r>
            <a:r>
              <a:rPr lang="es-AR" b="1" dirty="0"/>
              <a:t>Cascada La Toma</a:t>
            </a:r>
            <a:r>
              <a:rPr lang="es-AR" dirty="0"/>
              <a:t>, a pocos minutos del pueblo.</a:t>
            </a:r>
          </a:p>
          <a:p>
            <a:r>
              <a:rPr lang="es-AR" b="1" dirty="0"/>
              <a:t>Gastronómico:</a:t>
            </a:r>
            <a:r>
              <a:rPr lang="es-AR" dirty="0"/>
              <a:t> </a:t>
            </a:r>
            <a:r>
              <a:rPr lang="es-AR" i="1" dirty="0"/>
              <a:t>Refugio del Tapir</a:t>
            </a:r>
            <a:r>
              <a:rPr lang="es-AR" dirty="0"/>
              <a:t> en San Francisco. Es un lugar emblemático para comer algo casero con vistas directas a las Yungas.</a:t>
            </a:r>
          </a:p>
        </p:txBody>
      </p:sp>
    </p:spTree>
    <p:extLst>
      <p:ext uri="{BB962C8B-B14F-4D97-AF65-F5344CB8AC3E}">
        <p14:creationId xmlns:p14="http://schemas.microsoft.com/office/powerpoint/2010/main" val="1727702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2904-7C7E-6187-7DC7-C5B8E4C7B2E4}"/>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5356684A-08CB-DC9E-BA03-4DB9B94B85D5}"/>
              </a:ext>
            </a:extLst>
          </p:cNvPr>
          <p:cNvSpPr txBox="1"/>
          <p:nvPr/>
        </p:nvSpPr>
        <p:spPr>
          <a:xfrm>
            <a:off x="757804" y="545434"/>
            <a:ext cx="10914927" cy="5909310"/>
          </a:xfrm>
          <a:prstGeom prst="rect">
            <a:avLst/>
          </a:prstGeom>
          <a:noFill/>
        </p:spPr>
        <p:txBody>
          <a:bodyPr wrap="square">
            <a:spAutoFit/>
          </a:bodyPr>
          <a:lstStyle/>
          <a:p>
            <a:r>
              <a:rPr lang="es-AR" b="1" dirty="0"/>
              <a:t>3. San Francisco → Caspalá (El "Mejor Pueblo del Mundo")</a:t>
            </a:r>
          </a:p>
          <a:p>
            <a:r>
              <a:rPr lang="es-AR" b="1" dirty="0"/>
              <a:t>Único:</a:t>
            </a:r>
            <a:r>
              <a:rPr lang="es-AR" dirty="0"/>
              <a:t> </a:t>
            </a:r>
            <a:r>
              <a:rPr lang="es-AR" b="1" dirty="0" err="1"/>
              <a:t>Caspalá</a:t>
            </a:r>
            <a:r>
              <a:rPr lang="es-AR" dirty="0"/>
              <a:t> fue elegido por la ONU como uno de los mejores pueblos turísticos del mundo. No te pierdas el sitio arqueológico </a:t>
            </a:r>
            <a:r>
              <a:rPr lang="es-AR" b="1" dirty="0"/>
              <a:t>Antigüito</a:t>
            </a:r>
            <a:r>
              <a:rPr lang="es-AR" dirty="0"/>
              <a:t> y las construcciones tradicionales de piedra y barro.</a:t>
            </a:r>
          </a:p>
          <a:p>
            <a:r>
              <a:rPr lang="es-AR" b="1" dirty="0"/>
              <a:t>Histórico:</a:t>
            </a:r>
            <a:r>
              <a:rPr lang="es-AR" dirty="0"/>
              <a:t> El </a:t>
            </a:r>
            <a:r>
              <a:rPr lang="es-AR" b="1" dirty="0" err="1"/>
              <a:t>Qhapaq</a:t>
            </a:r>
            <a:r>
              <a:rPr lang="es-AR" b="1" dirty="0"/>
              <a:t> </a:t>
            </a:r>
            <a:r>
              <a:rPr lang="es-AR" b="1" dirty="0" err="1"/>
              <a:t>Ñan</a:t>
            </a:r>
            <a:r>
              <a:rPr lang="es-AR" b="1" dirty="0"/>
              <a:t> (Camino del Inca)</a:t>
            </a:r>
            <a:r>
              <a:rPr lang="es-AR" dirty="0"/>
              <a:t>. Cerca de </a:t>
            </a:r>
            <a:r>
              <a:rPr lang="es-AR" dirty="0" err="1"/>
              <a:t>Caspalá</a:t>
            </a:r>
            <a:r>
              <a:rPr lang="es-AR" dirty="0"/>
              <a:t> </a:t>
            </a:r>
            <a:r>
              <a:rPr lang="es-AR" dirty="0" err="1"/>
              <a:t>podés</a:t>
            </a:r>
            <a:r>
              <a:rPr lang="es-AR" dirty="0"/>
              <a:t> ver tramos originales de este camino imperial que unía todo el imperio incaico.</a:t>
            </a:r>
          </a:p>
          <a:p>
            <a:r>
              <a:rPr lang="es-AR" b="1" dirty="0"/>
              <a:t>Gastronómico:</a:t>
            </a:r>
            <a:r>
              <a:rPr lang="es-AR" dirty="0"/>
              <a:t> </a:t>
            </a:r>
            <a:r>
              <a:rPr lang="es-AR" b="1" dirty="0"/>
              <a:t>Comedor La </a:t>
            </a:r>
            <a:r>
              <a:rPr lang="es-AR" b="1" dirty="0" err="1"/>
              <a:t>Cutanita</a:t>
            </a:r>
            <a:r>
              <a:rPr lang="es-AR" dirty="0"/>
              <a:t> (</a:t>
            </a:r>
            <a:r>
              <a:rPr lang="es-AR" dirty="0" err="1"/>
              <a:t>Caspalá</a:t>
            </a:r>
            <a:r>
              <a:rPr lang="es-AR" dirty="0"/>
              <a:t>). </a:t>
            </a:r>
            <a:r>
              <a:rPr lang="es-AR" dirty="0" err="1"/>
              <a:t>Tenés</a:t>
            </a:r>
            <a:r>
              <a:rPr lang="es-AR" dirty="0"/>
              <a:t> que probar el </a:t>
            </a:r>
            <a:r>
              <a:rPr lang="es-AR" b="1" dirty="0"/>
              <a:t>guiso de papa verde</a:t>
            </a:r>
            <a:r>
              <a:rPr lang="es-AR" dirty="0"/>
              <a:t> que prepara Hilda Cruz; es la especialidad del pueblo y una joya de la cocina andina de altura.</a:t>
            </a:r>
          </a:p>
          <a:p>
            <a:r>
              <a:rPr lang="es-AR" b="1" dirty="0"/>
              <a:t>4. Humahuaca y Alrededores (El corazón de la Quebrada)</a:t>
            </a:r>
          </a:p>
          <a:p>
            <a:r>
              <a:rPr lang="es-AR" b="1" dirty="0"/>
              <a:t>Histórico:</a:t>
            </a:r>
            <a:r>
              <a:rPr lang="es-AR" dirty="0"/>
              <a:t> El </a:t>
            </a:r>
            <a:r>
              <a:rPr lang="es-AR" b="1" dirty="0"/>
              <a:t>Monumento a los Héroes de la Independencia</a:t>
            </a:r>
            <a:r>
              <a:rPr lang="es-AR" dirty="0"/>
              <a:t> y el </a:t>
            </a:r>
            <a:r>
              <a:rPr lang="es-AR" b="1" dirty="0"/>
              <a:t>Cabildo</a:t>
            </a:r>
            <a:r>
              <a:rPr lang="es-AR" dirty="0"/>
              <a:t>, donde a las 12:00 del mediodía sale la imagen de San Francisco Solano a dar la bendición.</a:t>
            </a:r>
          </a:p>
          <a:p>
            <a:r>
              <a:rPr lang="es-AR" b="1" dirty="0"/>
              <a:t>Único:</a:t>
            </a:r>
            <a:r>
              <a:rPr lang="es-AR" dirty="0"/>
              <a:t> </a:t>
            </a:r>
            <a:r>
              <a:rPr lang="es-AR" b="1" dirty="0"/>
              <a:t>Serranías del </a:t>
            </a:r>
            <a:r>
              <a:rPr lang="es-AR" b="1" dirty="0" err="1"/>
              <a:t>Hornocal</a:t>
            </a:r>
            <a:r>
              <a:rPr lang="es-AR" b="1" dirty="0"/>
              <a:t> (El Cerro de los 14 Colores)</a:t>
            </a:r>
            <a:r>
              <a:rPr lang="es-AR" dirty="0"/>
              <a:t>. Está a unos 25 km de Humahuaca por ripio. Al ir en la XR650L, </a:t>
            </a:r>
            <a:r>
              <a:rPr lang="es-AR" dirty="0" err="1"/>
              <a:t>disfrutás</a:t>
            </a:r>
            <a:r>
              <a:rPr lang="es-AR" dirty="0"/>
              <a:t> mucho más la trepada que en un auto. El atardecer ahí es inolvidable.</a:t>
            </a:r>
          </a:p>
          <a:p>
            <a:r>
              <a:rPr lang="es-AR" b="1" dirty="0"/>
              <a:t>Gastronómico:</a:t>
            </a:r>
            <a:r>
              <a:rPr lang="es-AR" dirty="0"/>
              <a:t> </a:t>
            </a:r>
            <a:r>
              <a:rPr lang="es-AR" i="1" dirty="0"/>
              <a:t>El Mesón</a:t>
            </a:r>
            <a:r>
              <a:rPr lang="es-AR" dirty="0"/>
              <a:t> (</a:t>
            </a:r>
            <a:r>
              <a:rPr lang="es-AR" dirty="0" err="1"/>
              <a:t>Purmamarca</a:t>
            </a:r>
            <a:r>
              <a:rPr lang="es-AR" dirty="0"/>
              <a:t>) o </a:t>
            </a:r>
            <a:r>
              <a:rPr lang="es-AR" i="1" dirty="0" err="1"/>
              <a:t>Uraqui</a:t>
            </a:r>
            <a:r>
              <a:rPr lang="es-AR" i="1" dirty="0"/>
              <a:t> Minero</a:t>
            </a:r>
            <a:r>
              <a:rPr lang="es-AR" dirty="0"/>
              <a:t> (en </a:t>
            </a:r>
            <a:r>
              <a:rPr lang="es-AR" dirty="0" err="1"/>
              <a:t>Uquía</a:t>
            </a:r>
            <a:r>
              <a:rPr lang="es-AR" dirty="0"/>
              <a:t>, muy cerca de Humahuaca). En Humahuaca, </a:t>
            </a:r>
            <a:r>
              <a:rPr lang="es-AR" dirty="0" err="1"/>
              <a:t>buscá</a:t>
            </a:r>
            <a:r>
              <a:rPr lang="es-AR" dirty="0"/>
              <a:t> el mercado municipal para probar humitas y tamales auténticos.</a:t>
            </a:r>
          </a:p>
          <a:p>
            <a:r>
              <a:rPr lang="es-AR" b="1" dirty="0"/>
              <a:t>5. Salinas Grandes y </a:t>
            </a:r>
            <a:r>
              <a:rPr lang="es-AR" b="1" dirty="0" err="1"/>
              <a:t>Purmamarca</a:t>
            </a:r>
            <a:r>
              <a:rPr lang="es-AR" b="1" dirty="0"/>
              <a:t> (Asfalto de ensueño)</a:t>
            </a:r>
          </a:p>
          <a:p>
            <a:r>
              <a:rPr lang="es-AR" b="1" dirty="0"/>
              <a:t>Único:</a:t>
            </a:r>
            <a:r>
              <a:rPr lang="es-AR" dirty="0"/>
              <a:t> </a:t>
            </a:r>
            <a:r>
              <a:rPr lang="es-AR" b="1" dirty="0"/>
              <a:t>Salinas Grandes</a:t>
            </a:r>
            <a:r>
              <a:rPr lang="es-AR" dirty="0"/>
              <a:t>. Un desierto blanco infinito a 3.450 msnm. Cruzar las salinas en moto es una de las fotos icónicas que todo </a:t>
            </a:r>
            <a:r>
              <a:rPr lang="es-AR" dirty="0" err="1"/>
              <a:t>motoviajero</a:t>
            </a:r>
            <a:r>
              <a:rPr lang="es-AR" dirty="0"/>
              <a:t> busca.</a:t>
            </a:r>
          </a:p>
          <a:p>
            <a:r>
              <a:rPr lang="es-AR" b="1" dirty="0"/>
              <a:t>Paisajístico:</a:t>
            </a:r>
            <a:r>
              <a:rPr lang="es-AR" dirty="0"/>
              <a:t> </a:t>
            </a:r>
            <a:r>
              <a:rPr lang="es-AR" b="1" dirty="0"/>
              <a:t>Cuesta del Lipán</a:t>
            </a:r>
            <a:r>
              <a:rPr lang="es-AR" dirty="0"/>
              <a:t>. Un </a:t>
            </a:r>
            <a:r>
              <a:rPr lang="es-AR" dirty="0" err="1"/>
              <a:t>zig-zag</a:t>
            </a:r>
            <a:r>
              <a:rPr lang="es-AR" dirty="0"/>
              <a:t> de asfalto perfecto que sube hasta los 4.170 msnm. Es el parque de diversiones para cualquier motociclista de ruta.</a:t>
            </a:r>
          </a:p>
          <a:p>
            <a:r>
              <a:rPr lang="es-AR" b="1" dirty="0"/>
              <a:t>Gastronómico:</a:t>
            </a:r>
            <a:r>
              <a:rPr lang="es-AR" dirty="0"/>
              <a:t> </a:t>
            </a:r>
            <a:r>
              <a:rPr lang="es-AR" b="1" dirty="0"/>
              <a:t>Los Tacos de </a:t>
            </a:r>
            <a:r>
              <a:rPr lang="es-AR" b="1" dirty="0" err="1"/>
              <a:t>Purmamarca</a:t>
            </a:r>
            <a:r>
              <a:rPr lang="es-AR" dirty="0"/>
              <a:t> (en la plaza) para algo rápido, o </a:t>
            </a:r>
            <a:r>
              <a:rPr lang="es-AR" i="1" dirty="0"/>
              <a:t>El Manantial del Silencio</a:t>
            </a:r>
            <a:r>
              <a:rPr lang="es-AR" dirty="0"/>
              <a:t> si </a:t>
            </a:r>
            <a:r>
              <a:rPr lang="es-AR" dirty="0" err="1"/>
              <a:t>buscás</a:t>
            </a:r>
            <a:r>
              <a:rPr lang="es-AR" dirty="0"/>
              <a:t> una cena gourmet andina de alto nivel.</a:t>
            </a:r>
          </a:p>
        </p:txBody>
      </p:sp>
    </p:spTree>
    <p:extLst>
      <p:ext uri="{BB962C8B-B14F-4D97-AF65-F5344CB8AC3E}">
        <p14:creationId xmlns:p14="http://schemas.microsoft.com/office/powerpoint/2010/main" val="2249339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33D6-9427-C41C-CA38-7C661E0AA486}"/>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5EC524A-9882-7D93-593B-D973C4B948D9}"/>
              </a:ext>
            </a:extLst>
          </p:cNvPr>
          <p:cNvSpPr txBox="1"/>
          <p:nvPr/>
        </p:nvSpPr>
        <p:spPr>
          <a:xfrm>
            <a:off x="757804" y="545434"/>
            <a:ext cx="10914927" cy="6186309"/>
          </a:xfrm>
          <a:prstGeom prst="rect">
            <a:avLst/>
          </a:prstGeom>
          <a:noFill/>
        </p:spPr>
        <p:txBody>
          <a:bodyPr wrap="square">
            <a:spAutoFit/>
          </a:bodyPr>
          <a:lstStyle/>
          <a:p>
            <a:pPr>
              <a:buNone/>
            </a:pPr>
            <a:r>
              <a:rPr lang="es-AR" b="1" dirty="0"/>
              <a:t>Día 6 (Alternativo): </a:t>
            </a:r>
            <a:r>
              <a:rPr lang="es-AR" b="1" dirty="0" err="1"/>
              <a:t>Purmamarca</a:t>
            </a:r>
            <a:r>
              <a:rPr lang="es-AR" b="1" dirty="0"/>
              <a:t> → Cafayate (~310 km)</a:t>
            </a:r>
          </a:p>
          <a:p>
            <a:pPr>
              <a:buNone/>
            </a:pPr>
            <a:r>
              <a:rPr lang="es-AR" dirty="0"/>
              <a:t>Este día </a:t>
            </a:r>
            <a:r>
              <a:rPr lang="es-AR" dirty="0" err="1"/>
              <a:t>evitás</a:t>
            </a:r>
            <a:r>
              <a:rPr lang="es-AR" dirty="0"/>
              <a:t> la autopista y bajás por los Valles Calchaquíes.</a:t>
            </a:r>
          </a:p>
          <a:p>
            <a:pPr>
              <a:buFont typeface="Arial" panose="020B0604020202020204" pitchFamily="34" charset="0"/>
              <a:buChar char="•"/>
            </a:pPr>
            <a:r>
              <a:rPr lang="es-AR" b="1" dirty="0"/>
              <a:t>Ruta:</a:t>
            </a:r>
            <a:r>
              <a:rPr lang="es-AR" dirty="0"/>
              <a:t> Bajás de </a:t>
            </a:r>
            <a:r>
              <a:rPr lang="es-AR" dirty="0" err="1"/>
              <a:t>Purmamarca</a:t>
            </a:r>
            <a:r>
              <a:rPr lang="es-AR" dirty="0"/>
              <a:t> a Salta. Desde Salta, en lugar de seguir por la RN 9, </a:t>
            </a:r>
            <a:r>
              <a:rPr lang="es-AR" dirty="0" err="1"/>
              <a:t>tomás</a:t>
            </a:r>
            <a:r>
              <a:rPr lang="es-AR" dirty="0"/>
              <a:t> la </a:t>
            </a:r>
            <a:r>
              <a:rPr lang="es-AR" b="1" dirty="0"/>
              <a:t>RN 68</a:t>
            </a:r>
            <a:r>
              <a:rPr lang="es-AR" dirty="0"/>
              <a:t> hacia el sur.</a:t>
            </a:r>
          </a:p>
          <a:p>
            <a:pPr>
              <a:buFont typeface="Arial" panose="020B0604020202020204" pitchFamily="34" charset="0"/>
              <a:buChar char="•"/>
            </a:pPr>
            <a:r>
              <a:rPr lang="es-AR" b="1" dirty="0"/>
              <a:t>Descripción:</a:t>
            </a:r>
            <a:r>
              <a:rPr lang="es-AR" dirty="0"/>
              <a:t> </a:t>
            </a:r>
            <a:r>
              <a:rPr lang="es-AR" dirty="0" err="1"/>
              <a:t>Atravesás</a:t>
            </a:r>
            <a:r>
              <a:rPr lang="es-AR" dirty="0"/>
              <a:t> la </a:t>
            </a:r>
            <a:r>
              <a:rPr lang="es-AR" b="1" dirty="0"/>
              <a:t>Quebrada de las Conchas</a:t>
            </a:r>
            <a:r>
              <a:rPr lang="es-AR" dirty="0"/>
              <a:t>. Es asfalto, pero es una de las rutas más lindas del país. Vas a pasar por formaciones como </a:t>
            </a:r>
            <a:r>
              <a:rPr lang="es-AR" i="1" dirty="0"/>
              <a:t>El Anfiteatro</a:t>
            </a:r>
            <a:r>
              <a:rPr lang="es-AR" dirty="0"/>
              <a:t> y </a:t>
            </a:r>
            <a:r>
              <a:rPr lang="es-AR" i="1" dirty="0"/>
              <a:t>La Garganta del Diablo</a:t>
            </a:r>
            <a:r>
              <a:rPr lang="es-AR" dirty="0"/>
              <a:t>.</a:t>
            </a:r>
          </a:p>
          <a:p>
            <a:pPr>
              <a:buFont typeface="Arial" panose="020B0604020202020204" pitchFamily="34" charset="0"/>
              <a:buChar char="•"/>
            </a:pPr>
            <a:r>
              <a:rPr lang="es-AR" b="1" dirty="0"/>
              <a:t>Ripio:</a:t>
            </a:r>
            <a:r>
              <a:rPr lang="es-AR" dirty="0"/>
              <a:t> Si </a:t>
            </a:r>
            <a:r>
              <a:rPr lang="es-AR" dirty="0" err="1"/>
              <a:t>querés</a:t>
            </a:r>
            <a:r>
              <a:rPr lang="es-AR" dirty="0"/>
              <a:t> aventura extra, antes de llegar a Cafayate </a:t>
            </a:r>
            <a:r>
              <a:rPr lang="es-AR" dirty="0" err="1"/>
              <a:t>podés</a:t>
            </a:r>
            <a:r>
              <a:rPr lang="es-AR" dirty="0"/>
              <a:t> desviarte por el tramo de ripio de la RN 40 que viene desde Cachi (aunque esto alargaría mucho el día). Lo ideal es hacer la 68 completa por sus paisajes rojos.</a:t>
            </a:r>
          </a:p>
          <a:p>
            <a:pPr>
              <a:buFont typeface="Arial" panose="020B0604020202020204" pitchFamily="34" charset="0"/>
              <a:buChar char="•"/>
            </a:pPr>
            <a:r>
              <a:rPr lang="es-AR" b="1" dirty="0"/>
              <a:t>Estaciones:</a:t>
            </a:r>
            <a:r>
              <a:rPr lang="es-AR" dirty="0"/>
              <a:t> Carga en Salta y </a:t>
            </a:r>
            <a:r>
              <a:rPr lang="es-AR" dirty="0" err="1"/>
              <a:t>reabastecé</a:t>
            </a:r>
            <a:r>
              <a:rPr lang="es-AR" dirty="0"/>
              <a:t> en Cafayate.</a:t>
            </a:r>
          </a:p>
          <a:p>
            <a:pPr>
              <a:buFont typeface="Arial" panose="020B0604020202020204" pitchFamily="34" charset="0"/>
              <a:buChar char="•"/>
            </a:pPr>
            <a:r>
              <a:rPr lang="es-AR" b="1" dirty="0"/>
              <a:t>Hospedaje en Cafayate:</a:t>
            </a:r>
            <a:r>
              <a:rPr lang="es-AR" dirty="0"/>
              <a:t> * </a:t>
            </a:r>
            <a:r>
              <a:rPr lang="es-AR" b="1" dirty="0"/>
              <a:t>Hotel Asturias:</a:t>
            </a:r>
            <a:r>
              <a:rPr lang="es-AR" dirty="0"/>
              <a:t> Clásico, con cochera cerrada y muy seguro para motos.</a:t>
            </a:r>
          </a:p>
          <a:p>
            <a:pPr marL="742950" lvl="1" indent="-285750">
              <a:buFont typeface="Arial" panose="020B0604020202020204" pitchFamily="34" charset="0"/>
              <a:buChar char="•"/>
            </a:pPr>
            <a:r>
              <a:rPr lang="es-AR" b="1" dirty="0"/>
              <a:t>Hostal Andino:</a:t>
            </a:r>
            <a:r>
              <a:rPr lang="es-AR" dirty="0"/>
              <a:t> Opción más relajada con buen espacio para estacionar.</a:t>
            </a:r>
          </a:p>
          <a:p>
            <a:pPr>
              <a:buNone/>
            </a:pPr>
            <a:endParaRPr lang="es-AR" b="1" dirty="0"/>
          </a:p>
          <a:p>
            <a:pPr>
              <a:buNone/>
            </a:pPr>
            <a:r>
              <a:rPr lang="es-AR" b="1" dirty="0"/>
              <a:t>Día 7 (Alternativo): Cafayate → Tafí del Valle (~120 km)</a:t>
            </a:r>
          </a:p>
          <a:p>
            <a:pPr>
              <a:buNone/>
            </a:pPr>
            <a:r>
              <a:rPr lang="es-AR" dirty="0"/>
              <a:t>Un día corto y relajado para disfrutar el final del viaje.</a:t>
            </a:r>
          </a:p>
          <a:p>
            <a:pPr>
              <a:buFont typeface="Arial" panose="020B0604020202020204" pitchFamily="34" charset="0"/>
              <a:buChar char="•"/>
            </a:pPr>
            <a:r>
              <a:rPr lang="es-AR" b="1" dirty="0"/>
              <a:t>Ruta:</a:t>
            </a:r>
            <a:r>
              <a:rPr lang="es-AR" dirty="0"/>
              <a:t> Tomás la </a:t>
            </a:r>
            <a:r>
              <a:rPr lang="es-AR" b="1" dirty="0"/>
              <a:t>RN 40</a:t>
            </a:r>
            <a:r>
              <a:rPr lang="es-AR" dirty="0"/>
              <a:t> hacia el sur y luego la </a:t>
            </a:r>
            <a:r>
              <a:rPr lang="es-AR" b="1" dirty="0"/>
              <a:t>RP 307</a:t>
            </a:r>
            <a:r>
              <a:rPr lang="es-AR" dirty="0"/>
              <a:t> en </a:t>
            </a:r>
            <a:r>
              <a:rPr lang="es-AR" dirty="0" err="1"/>
              <a:t>Amaicha</a:t>
            </a:r>
            <a:r>
              <a:rPr lang="es-AR" dirty="0"/>
              <a:t> del Valle.</a:t>
            </a:r>
          </a:p>
          <a:p>
            <a:pPr>
              <a:buFont typeface="Arial" panose="020B0604020202020204" pitchFamily="34" charset="0"/>
              <a:buChar char="•"/>
            </a:pPr>
            <a:r>
              <a:rPr lang="es-AR" b="1" dirty="0"/>
              <a:t>El Tramo de Ripio:</a:t>
            </a:r>
            <a:r>
              <a:rPr lang="es-AR" dirty="0"/>
              <a:t> Entre Cafayate y el límite con Tucumán (cerca de </a:t>
            </a:r>
            <a:r>
              <a:rPr lang="es-AR" dirty="0" err="1"/>
              <a:t>Colalao</a:t>
            </a:r>
            <a:r>
              <a:rPr lang="es-AR" dirty="0"/>
              <a:t> del Valle), la RN 40 suele tener sectores de ripio serruchado o arena, ideal para la XR.</a:t>
            </a:r>
          </a:p>
          <a:p>
            <a:pPr>
              <a:buFont typeface="Arial" panose="020B0604020202020204" pitchFamily="34" charset="0"/>
              <a:buChar char="•"/>
            </a:pPr>
            <a:r>
              <a:rPr lang="es-AR" b="1" dirty="0"/>
              <a:t>Imperdibles del día:</a:t>
            </a:r>
            <a:endParaRPr lang="es-AR" dirty="0"/>
          </a:p>
          <a:p>
            <a:pPr marL="742950" lvl="1" indent="-285750">
              <a:buFont typeface="Arial" panose="020B0604020202020204" pitchFamily="34" charset="0"/>
              <a:buChar char="•"/>
            </a:pPr>
            <a:r>
              <a:rPr lang="es-AR" b="1" dirty="0"/>
              <a:t>Ruinas de Quilmes:</a:t>
            </a:r>
            <a:r>
              <a:rPr lang="es-AR" dirty="0"/>
              <a:t> Están justo sobre la ruta. </a:t>
            </a:r>
            <a:r>
              <a:rPr lang="es-AR" dirty="0" err="1"/>
              <a:t>Podés</a:t>
            </a:r>
            <a:r>
              <a:rPr lang="es-AR" dirty="0"/>
              <a:t> entrar con la moto hasta la base.</a:t>
            </a:r>
          </a:p>
          <a:p>
            <a:pPr marL="742950" lvl="1" indent="-285750">
              <a:buFont typeface="Arial" panose="020B0604020202020204" pitchFamily="34" charset="0"/>
              <a:buChar char="•"/>
            </a:pPr>
            <a:r>
              <a:rPr lang="es-AR" b="1" dirty="0" err="1"/>
              <a:t>Amaicha</a:t>
            </a:r>
            <a:r>
              <a:rPr lang="es-AR" b="1" dirty="0"/>
              <a:t> del Valle:</a:t>
            </a:r>
            <a:r>
              <a:rPr lang="es-AR" dirty="0"/>
              <a:t> Parada técnica para ver el Museo de la Pachamama.</a:t>
            </a:r>
          </a:p>
          <a:p>
            <a:pPr marL="742950" lvl="1" indent="-285750">
              <a:buFont typeface="Arial" panose="020B0604020202020204" pitchFamily="34" charset="0"/>
              <a:buChar char="•"/>
            </a:pPr>
            <a:r>
              <a:rPr lang="es-AR" b="1" dirty="0"/>
              <a:t>Abra del Infiernillo:</a:t>
            </a:r>
            <a:r>
              <a:rPr lang="es-AR" dirty="0"/>
              <a:t> Es el punto más alto de este tramo (3.042 msnm) antes de bajar hacia Tafí. Es un camino de curvas espectacular.</a:t>
            </a:r>
          </a:p>
          <a:p>
            <a:pPr>
              <a:buFont typeface="Arial" panose="020B0604020202020204" pitchFamily="34" charset="0"/>
              <a:buChar char="•"/>
            </a:pPr>
            <a:r>
              <a:rPr lang="es-AR" b="1" dirty="0"/>
              <a:t>Llegada:</a:t>
            </a:r>
            <a:r>
              <a:rPr lang="es-AR" dirty="0"/>
              <a:t> Estás en Tafí al mediodía, perfecto para cargar la moto en el </a:t>
            </a:r>
            <a:r>
              <a:rPr lang="es-AR" dirty="0" err="1"/>
              <a:t>trailer</a:t>
            </a:r>
            <a:r>
              <a:rPr lang="es-AR" dirty="0"/>
              <a:t> con luz de día y sin apuro.</a:t>
            </a:r>
          </a:p>
        </p:txBody>
      </p:sp>
    </p:spTree>
    <p:extLst>
      <p:ext uri="{BB962C8B-B14F-4D97-AF65-F5344CB8AC3E}">
        <p14:creationId xmlns:p14="http://schemas.microsoft.com/office/powerpoint/2010/main" val="264359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3E33333-939D-9D24-79F2-E23B242542C4}"/>
              </a:ext>
            </a:extLst>
          </p:cNvPr>
          <p:cNvSpPr txBox="1"/>
          <p:nvPr/>
        </p:nvSpPr>
        <p:spPr>
          <a:xfrm>
            <a:off x="479685" y="509666"/>
            <a:ext cx="10845384" cy="12803505"/>
          </a:xfrm>
          <a:prstGeom prst="rect">
            <a:avLst/>
          </a:prstGeom>
          <a:noFill/>
        </p:spPr>
        <p:txBody>
          <a:bodyPr wrap="square">
            <a:spAutoFit/>
          </a:bodyPr>
          <a:lstStyle/>
          <a:p>
            <a:pPr>
              <a:buNone/>
            </a:pPr>
            <a:r>
              <a:rPr lang="es-AR" sz="1400" dirty="0"/>
              <a:t>ALOJAMIENTO:</a:t>
            </a:r>
          </a:p>
          <a:p>
            <a:pPr>
              <a:buNone/>
            </a:pPr>
            <a:r>
              <a:rPr lang="es-AR" sz="1400" dirty="0"/>
              <a:t>Para un viaje de 3 hombres en moto, la prioridad en los alojamientos cambia totalmente: se necesitan </a:t>
            </a:r>
            <a:r>
              <a:rPr lang="es-AR" sz="1400" b="1" dirty="0"/>
              <a:t>camas individuales (nada de matrimoniales compartidas), excelente seguridad para guardar las 3 motos juntas bajo techo o en predio cerrado, y espacio logístico en la base para la camioneta y el </a:t>
            </a:r>
            <a:r>
              <a:rPr lang="es-AR" sz="1400" b="1" dirty="0" err="1"/>
              <a:t>trailer</a:t>
            </a:r>
            <a:r>
              <a:rPr lang="es-AR" sz="1400" dirty="0"/>
              <a:t>.</a:t>
            </a:r>
          </a:p>
          <a:p>
            <a:pPr>
              <a:buNone/>
            </a:pPr>
            <a:r>
              <a:rPr lang="es-AR" sz="1400" dirty="0"/>
              <a:t>Teniendo en cuenta que el plan incluye la opción de dos días para el regreso, aquí </a:t>
            </a:r>
            <a:r>
              <a:rPr lang="es-AR" sz="1400" dirty="0" err="1"/>
              <a:t>tenés</a:t>
            </a:r>
            <a:r>
              <a:rPr lang="es-AR" sz="1400" dirty="0"/>
              <a:t> la selección de alojamientos ideales para este grupo:</a:t>
            </a:r>
          </a:p>
          <a:p>
            <a:pPr>
              <a:buNone/>
            </a:pPr>
            <a:r>
              <a:rPr lang="es-AR" sz="1400" b="1" dirty="0"/>
              <a:t>1. Tafí del Valle (Punto Base / Camioneta + Trailer)</a:t>
            </a:r>
          </a:p>
          <a:p>
            <a:pPr>
              <a:buNone/>
            </a:pPr>
            <a:r>
              <a:rPr lang="es-AR" sz="1400" dirty="0"/>
              <a:t>Para dejar la camioneta con el </a:t>
            </a:r>
            <a:r>
              <a:rPr lang="es-AR" sz="1400" dirty="0" err="1"/>
              <a:t>trailer</a:t>
            </a:r>
            <a:r>
              <a:rPr lang="es-AR" sz="1400" dirty="0"/>
              <a:t> guardados con total seguridad durante los 6 días que estén viajando, </a:t>
            </a:r>
            <a:r>
              <a:rPr lang="es-AR" sz="1400" dirty="0" err="1"/>
              <a:t>necesitás</a:t>
            </a:r>
            <a:r>
              <a:rPr lang="es-AR" sz="1400" dirty="0"/>
              <a:t> un hotel con predio amplio ("estilo finca") y cerrado.</a:t>
            </a:r>
          </a:p>
          <a:p>
            <a:pPr>
              <a:buFont typeface="Arial" panose="020B0604020202020204" pitchFamily="34" charset="0"/>
              <a:buChar char="•"/>
            </a:pPr>
            <a:r>
              <a:rPr lang="es-AR" sz="1400" b="1" dirty="0">
                <a:highlight>
                  <a:srgbClr val="FFFF00"/>
                </a:highlight>
              </a:rPr>
              <a:t>Hostería </a:t>
            </a:r>
            <a:r>
              <a:rPr lang="es-AR" sz="1400" b="1" dirty="0" err="1">
                <a:highlight>
                  <a:srgbClr val="FFFF00"/>
                </a:highlight>
              </a:rPr>
              <a:t>Lunahuana</a:t>
            </a:r>
            <a:endParaRPr lang="es-AR" sz="1400" dirty="0">
              <a:highlight>
                <a:srgbClr val="FFFF00"/>
              </a:highlight>
            </a:endParaRPr>
          </a:p>
          <a:p>
            <a:pPr marL="742950" lvl="1" indent="-285750">
              <a:buFont typeface="Arial" panose="020B0604020202020204" pitchFamily="34" charset="0"/>
              <a:buChar char="•"/>
            </a:pPr>
            <a:r>
              <a:rPr lang="es-AR" sz="1400" b="1" dirty="0"/>
              <a:t>Por qué los elijo:</a:t>
            </a:r>
            <a:r>
              <a:rPr lang="es-AR" sz="1400" dirty="0"/>
              <a:t> Tienen un predio </a:t>
            </a:r>
            <a:r>
              <a:rPr lang="es-AR" sz="1400" dirty="0" err="1"/>
              <a:t>parquizado</a:t>
            </a:r>
            <a:r>
              <a:rPr lang="es-AR" sz="1400" dirty="0"/>
              <a:t> muy grande, excelente seguridad y cocheras. Tienen habitaciones triples con camas individuales (singles) amplias. Al estar un poco separados del centro histórico apretado, tienen el espacio físico de sobra para que negocies dejar la camioneta y el </a:t>
            </a:r>
            <a:r>
              <a:rPr lang="es-AR" sz="1400" dirty="0" err="1"/>
              <a:t>trailer</a:t>
            </a:r>
            <a:r>
              <a:rPr lang="es-AR" sz="1400" dirty="0"/>
              <a:t> mientras están en las motos.</a:t>
            </a:r>
          </a:p>
          <a:p>
            <a:pPr marL="742950" lvl="1" indent="-285750">
              <a:buFont typeface="Arial" panose="020B0604020202020204" pitchFamily="34" charset="0"/>
              <a:buChar char="•"/>
            </a:pPr>
            <a:r>
              <a:rPr lang="es-AR" sz="1400" b="1" dirty="0"/>
              <a:t>Dirección:</a:t>
            </a:r>
            <a:r>
              <a:rPr lang="es-AR" sz="1400" dirty="0"/>
              <a:t> Av. Gdor. </a:t>
            </a:r>
            <a:r>
              <a:rPr lang="es-AR" sz="1400" dirty="0" err="1"/>
              <a:t>Critto</a:t>
            </a:r>
            <a:r>
              <a:rPr lang="es-AR" sz="1400" dirty="0"/>
              <a:t> 540, Tafí del Valle.</a:t>
            </a:r>
          </a:p>
          <a:p>
            <a:pPr marL="742950" lvl="1" indent="-285750">
              <a:buFont typeface="Arial" panose="020B0604020202020204" pitchFamily="34" charset="0"/>
              <a:buChar char="•"/>
            </a:pPr>
            <a:r>
              <a:rPr lang="es-AR" sz="1400" b="1" dirty="0">
                <a:highlight>
                  <a:srgbClr val="FFFF00"/>
                </a:highlight>
              </a:rPr>
              <a:t>Teléfono:</a:t>
            </a:r>
            <a:r>
              <a:rPr lang="es-AR" sz="1400" dirty="0">
                <a:highlight>
                  <a:srgbClr val="FFFF00"/>
                </a:highlight>
              </a:rPr>
              <a:t> +54 3867 42-1360</a:t>
            </a:r>
          </a:p>
          <a:p>
            <a:pPr>
              <a:buFont typeface="Arial" panose="020B0604020202020204" pitchFamily="34" charset="0"/>
              <a:buChar char="•"/>
            </a:pPr>
            <a:r>
              <a:rPr lang="es-AR" sz="1400" b="1" dirty="0"/>
              <a:t>Alternativa:</a:t>
            </a:r>
            <a:r>
              <a:rPr lang="es-AR" sz="1400" dirty="0"/>
              <a:t> </a:t>
            </a:r>
            <a:r>
              <a:rPr lang="es-AR" sz="1400" b="1" dirty="0"/>
              <a:t>Hotel Mirador Del Tafí</a:t>
            </a:r>
            <a:r>
              <a:rPr lang="es-AR" sz="1400" dirty="0"/>
              <a:t> (Ruta 307 KM 61.2). Está sobre la ruta, tiene un estacionamiento enorme y cerrado, y es muy usado por motoqueros como base logística.</a:t>
            </a:r>
          </a:p>
          <a:p>
            <a:pPr>
              <a:buNone/>
            </a:pPr>
            <a:endParaRPr lang="es-AR" sz="1400" b="1" dirty="0"/>
          </a:p>
          <a:p>
            <a:pPr>
              <a:buNone/>
            </a:pPr>
            <a:r>
              <a:rPr lang="es-AR" sz="1400" b="1" dirty="0"/>
              <a:t>2. Salta Capital (Noche 1)</a:t>
            </a:r>
          </a:p>
          <a:p>
            <a:pPr>
              <a:buNone/>
            </a:pPr>
            <a:r>
              <a:rPr lang="es-AR" sz="1400" dirty="0"/>
              <a:t>En la capital </a:t>
            </a:r>
            <a:r>
              <a:rPr lang="es-AR" sz="1400" dirty="0" err="1"/>
              <a:t>necesitás</a:t>
            </a:r>
            <a:r>
              <a:rPr lang="es-AR" sz="1400" dirty="0"/>
              <a:t> cochera cubierta o un patio interno cerrado con portón; dejar 3 motos llamativas en un estacionamiento abierto en el centro de Salta no es opción.</a:t>
            </a:r>
          </a:p>
          <a:p>
            <a:pPr>
              <a:buFont typeface="Arial" panose="020B0604020202020204" pitchFamily="34" charset="0"/>
              <a:buChar char="•"/>
            </a:pPr>
            <a:r>
              <a:rPr lang="es-AR" sz="1400" b="1" dirty="0"/>
              <a:t>Ankara Suites</a:t>
            </a:r>
            <a:endParaRPr lang="es-AR" sz="1400" dirty="0"/>
          </a:p>
          <a:p>
            <a:pPr marL="742950" lvl="1" indent="-285750">
              <a:buFont typeface="Arial" panose="020B0604020202020204" pitchFamily="34" charset="0"/>
              <a:buChar char="•"/>
            </a:pPr>
            <a:r>
              <a:rPr lang="es-AR" sz="1400" b="1" dirty="0"/>
              <a:t>Por qué los elijo:</a:t>
            </a:r>
            <a:r>
              <a:rPr lang="es-AR" sz="1400" dirty="0"/>
              <a:t> Es un hotel tipo </a:t>
            </a:r>
            <a:r>
              <a:rPr lang="es-AR" sz="1400" dirty="0" err="1"/>
              <a:t>apart</a:t>
            </a:r>
            <a:r>
              <a:rPr lang="es-AR" sz="1400" dirty="0"/>
              <a:t> que cuenta con estacionamiento propio cubierto y privado. Permite reservar departamentos o suites con varias camas individuales, lo que resulta mucho más cómodo para tres hombres que una habitación de hotel estándar.</a:t>
            </a:r>
          </a:p>
          <a:p>
            <a:pPr marL="742950" lvl="1" indent="-285750">
              <a:buFont typeface="Arial" panose="020B0604020202020204" pitchFamily="34" charset="0"/>
              <a:buChar char="•"/>
            </a:pPr>
            <a:r>
              <a:rPr lang="es-AR" sz="1400" b="1" dirty="0"/>
              <a:t>Dirección:</a:t>
            </a:r>
            <a:r>
              <a:rPr lang="es-AR" sz="1400" dirty="0"/>
              <a:t> Pje. Zorrilla 145, Salta Capital.</a:t>
            </a:r>
          </a:p>
          <a:p>
            <a:pPr marL="742950" lvl="1" indent="-285750">
              <a:buFont typeface="Arial" panose="020B0604020202020204" pitchFamily="34" charset="0"/>
              <a:buChar char="•"/>
            </a:pPr>
            <a:r>
              <a:rPr lang="es-AR" sz="1400" b="1" dirty="0"/>
              <a:t>Teléfono:</a:t>
            </a:r>
            <a:r>
              <a:rPr lang="es-AR" sz="1400" dirty="0"/>
              <a:t> +54 387 574-4644</a:t>
            </a:r>
          </a:p>
          <a:p>
            <a:pPr>
              <a:buFont typeface="Arial" panose="020B0604020202020204" pitchFamily="34" charset="0"/>
              <a:buChar char="•"/>
            </a:pPr>
            <a:r>
              <a:rPr lang="es-AR" sz="1400" b="1" dirty="0"/>
              <a:t>Wilson Hotel</a:t>
            </a:r>
            <a:r>
              <a:rPr lang="es-AR" sz="1400" dirty="0"/>
              <a:t> (Alvarado 950). Tienen cochera propia cerrada en subsuelo/planta baja y muy buena atención para grupos.</a:t>
            </a:r>
          </a:p>
          <a:p>
            <a:pPr>
              <a:buNone/>
            </a:pPr>
            <a:r>
              <a:rPr lang="es-AR" sz="1400" b="1" dirty="0"/>
              <a:t>3. San Francisco - Yungas (Noche 2)</a:t>
            </a:r>
          </a:p>
          <a:p>
            <a:pPr>
              <a:buNone/>
            </a:pPr>
            <a:r>
              <a:rPr lang="es-AR" sz="1400" dirty="0"/>
              <a:t>Acá la oferta es agreste y rústica. No hay grandes hoteles con cochera subterránea, pero el pueblo es extremadamente seguro.</a:t>
            </a:r>
          </a:p>
          <a:p>
            <a:pPr>
              <a:buFont typeface="Arial" panose="020B0604020202020204" pitchFamily="34" charset="0"/>
              <a:buChar char="•"/>
            </a:pPr>
            <a:r>
              <a:rPr lang="es-AR" sz="1400" b="1" dirty="0"/>
              <a:t>Hospedaje Rural San Francisco</a:t>
            </a:r>
            <a:endParaRPr lang="es-AR" sz="1400" dirty="0"/>
          </a:p>
          <a:p>
            <a:pPr marL="742950" lvl="1" indent="-285750">
              <a:buFont typeface="Arial" panose="020B0604020202020204" pitchFamily="34" charset="0"/>
              <a:buChar char="•"/>
            </a:pPr>
            <a:r>
              <a:rPr lang="es-AR" sz="1400" b="1" dirty="0"/>
              <a:t>Por qué los elijo:</a:t>
            </a:r>
            <a:r>
              <a:rPr lang="es-AR" sz="1400" dirty="0"/>
              <a:t> Habitaciones sencillas, camas cómodas y un patio grande donde las motos quedan dentro de la propiedad. Te atienden los dueños y el ambiente es bien de campo.</a:t>
            </a:r>
          </a:p>
          <a:p>
            <a:pPr marL="742950" lvl="1" indent="-285750">
              <a:buFont typeface="Arial" panose="020B0604020202020204" pitchFamily="34" charset="0"/>
              <a:buChar char="•"/>
            </a:pPr>
            <a:r>
              <a:rPr lang="es-AR" sz="1400" b="1" dirty="0"/>
              <a:t>Dirección:</a:t>
            </a:r>
            <a:r>
              <a:rPr lang="es-AR" sz="1400" dirty="0"/>
              <a:t> Hermes </a:t>
            </a:r>
            <a:r>
              <a:rPr lang="es-AR" sz="1400" dirty="0" err="1"/>
              <a:t>Demitropulos</a:t>
            </a:r>
            <a:r>
              <a:rPr lang="es-AR" sz="1400" dirty="0"/>
              <a:t> s/n, San Francisco, Jujuy.</a:t>
            </a:r>
          </a:p>
          <a:p>
            <a:pPr marL="742950" lvl="1" indent="-285750">
              <a:buFont typeface="Arial" panose="020B0604020202020204" pitchFamily="34" charset="0"/>
              <a:buChar char="•"/>
            </a:pPr>
            <a:r>
              <a:rPr lang="es-AR" sz="1400" b="1" dirty="0"/>
              <a:t>Contacto:</a:t>
            </a:r>
            <a:r>
              <a:rPr lang="es-AR" sz="1400" dirty="0"/>
              <a:t> Se maneja por su </a:t>
            </a:r>
            <a:r>
              <a:rPr lang="es-AR" sz="1400" dirty="0">
                <a:hlinkClick r:id="rId2"/>
              </a:rPr>
              <a:t>Web Oficial</a:t>
            </a:r>
            <a:r>
              <a:rPr lang="es-AR" sz="1400" dirty="0"/>
              <a:t>.</a:t>
            </a:r>
          </a:p>
          <a:p>
            <a:pPr>
              <a:buNone/>
            </a:pPr>
            <a:r>
              <a:rPr lang="es-AR" sz="1400" b="1" dirty="0"/>
              <a:t>4. </a:t>
            </a:r>
            <a:r>
              <a:rPr lang="es-AR" sz="1400" b="1" dirty="0" err="1"/>
              <a:t>Caspalá</a:t>
            </a:r>
            <a:r>
              <a:rPr lang="es-AR" sz="1400" b="1" dirty="0"/>
              <a:t> (Noche 3)</a:t>
            </a:r>
          </a:p>
          <a:p>
            <a:pPr>
              <a:buNone/>
            </a:pPr>
            <a:r>
              <a:rPr lang="es-AR" sz="1400" dirty="0"/>
              <a:t>Turismo comunitario puro. Las motos duermen en el patio de tierra de la casa.</a:t>
            </a:r>
          </a:p>
          <a:p>
            <a:pPr>
              <a:buFont typeface="Arial" panose="020B0604020202020204" pitchFamily="34" charset="0"/>
              <a:buChar char="•"/>
            </a:pPr>
            <a:r>
              <a:rPr lang="es-AR" sz="1400" b="1" dirty="0"/>
              <a:t>Alojamiento Pueblo Viejo</a:t>
            </a:r>
            <a:endParaRPr lang="es-AR" sz="1400" dirty="0"/>
          </a:p>
          <a:p>
            <a:pPr marL="742950" lvl="1" indent="-285750">
              <a:buFont typeface="Arial" panose="020B0604020202020204" pitchFamily="34" charset="0"/>
              <a:buChar char="•"/>
            </a:pPr>
            <a:r>
              <a:rPr lang="es-AR" sz="1400" b="1" dirty="0"/>
              <a:t>Por qué los elijo:</a:t>
            </a:r>
            <a:r>
              <a:rPr lang="es-AR" sz="1400" dirty="0"/>
              <a:t> Es de las opciones más consistentes en el pueblo. Habitaciones con camas simples, sábanas abrigadas (hace mucho frío de noche) y espacio para guardar las motos en el patio cerrado de la propiedad familiar.</a:t>
            </a:r>
          </a:p>
          <a:p>
            <a:pPr marL="742950" lvl="1" indent="-285750">
              <a:buFont typeface="Arial" panose="020B0604020202020204" pitchFamily="34" charset="0"/>
              <a:buChar char="•"/>
            </a:pPr>
            <a:r>
              <a:rPr lang="es-AR" sz="1400" b="1" dirty="0"/>
              <a:t>Contacto:</a:t>
            </a:r>
            <a:r>
              <a:rPr lang="es-AR" sz="1400" dirty="0"/>
              <a:t> +54 388 404-1569 (Es clave llamar o mandar WhatsApp con tiempo porque la señal en el pueblo es intermitente).</a:t>
            </a:r>
          </a:p>
          <a:p>
            <a:pPr>
              <a:buNone/>
            </a:pPr>
            <a:r>
              <a:rPr lang="es-AR" sz="1400" b="1" dirty="0"/>
              <a:t>5. Humahuaca (Noche 4)</a:t>
            </a:r>
          </a:p>
          <a:p>
            <a:pPr>
              <a:buFont typeface="Arial" panose="020B0604020202020204" pitchFamily="34" charset="0"/>
              <a:buChar char="•"/>
            </a:pPr>
            <a:r>
              <a:rPr lang="es-AR" sz="1400" b="1" dirty="0"/>
              <a:t>Hostal La Candelaria</a:t>
            </a:r>
            <a:r>
              <a:rPr lang="es-AR" sz="1400" dirty="0"/>
              <a:t> o </a:t>
            </a:r>
            <a:r>
              <a:rPr lang="es-AR" sz="1400" b="1" dirty="0"/>
              <a:t>Azul Humahuaca</a:t>
            </a:r>
            <a:endParaRPr lang="es-AR" sz="1400" dirty="0"/>
          </a:p>
          <a:p>
            <a:pPr marL="742950" lvl="1" indent="-285750">
              <a:buFont typeface="Arial" panose="020B0604020202020204" pitchFamily="34" charset="0"/>
              <a:buChar char="•"/>
            </a:pPr>
            <a:r>
              <a:rPr lang="es-AR" sz="1400" b="1" dirty="0"/>
              <a:t>Por qué los elijo:</a:t>
            </a:r>
            <a:r>
              <a:rPr lang="es-AR" sz="1400" dirty="0"/>
              <a:t> Tienen un ambiente muy de viaje, habitaciones triples con camas individuales bien distribuidas y portón cerrado para que las 3 motos queden totalmente protegidas de la calle durante la noche.</a:t>
            </a:r>
          </a:p>
          <a:p>
            <a:pPr marL="742950" lvl="1" indent="-285750">
              <a:buFont typeface="Arial" panose="020B0604020202020204" pitchFamily="34" charset="0"/>
              <a:buChar char="•"/>
            </a:pPr>
            <a:r>
              <a:rPr lang="es-AR" sz="1400" b="1" dirty="0"/>
              <a:t>Dirección (La Candelaria):</a:t>
            </a:r>
            <a:r>
              <a:rPr lang="es-AR" sz="1400" dirty="0"/>
              <a:t> QJWV+GJ (Zona Centro), Humahuaca.</a:t>
            </a:r>
          </a:p>
          <a:p>
            <a:pPr marL="742950" lvl="1" indent="-285750">
              <a:buFont typeface="Arial" panose="020B0604020202020204" pitchFamily="34" charset="0"/>
              <a:buChar char="•"/>
            </a:pPr>
            <a:r>
              <a:rPr lang="es-AR" sz="1400" b="1" dirty="0"/>
              <a:t>Teléfono:</a:t>
            </a:r>
            <a:r>
              <a:rPr lang="es-AR" sz="1400" dirty="0"/>
              <a:t> +54 388 458-0718</a:t>
            </a:r>
          </a:p>
          <a:p>
            <a:pPr>
              <a:buNone/>
            </a:pPr>
            <a:r>
              <a:rPr lang="es-AR" sz="1400" b="1" dirty="0"/>
              <a:t>6. </a:t>
            </a:r>
            <a:r>
              <a:rPr lang="es-AR" sz="1400" b="1" dirty="0" err="1"/>
              <a:t>Purmamarca</a:t>
            </a:r>
            <a:r>
              <a:rPr lang="es-AR" sz="1400" b="1" dirty="0"/>
              <a:t> (Noche 5)</a:t>
            </a:r>
          </a:p>
          <a:p>
            <a:pPr>
              <a:buFont typeface="Arial" panose="020B0604020202020204" pitchFamily="34" charset="0"/>
              <a:buChar char="•"/>
            </a:pPr>
            <a:r>
              <a:rPr lang="es-AR" sz="1400" b="1" dirty="0"/>
              <a:t>El Refugio de </a:t>
            </a:r>
            <a:r>
              <a:rPr lang="es-AR" sz="1400" b="1" dirty="0" err="1"/>
              <a:t>Coquena</a:t>
            </a:r>
            <a:endParaRPr lang="es-AR" sz="1400" dirty="0"/>
          </a:p>
          <a:p>
            <a:pPr marL="742950" lvl="1" indent="-285750">
              <a:buFont typeface="Arial" panose="020B0604020202020204" pitchFamily="34" charset="0"/>
              <a:buChar char="•"/>
            </a:pPr>
            <a:r>
              <a:rPr lang="es-AR" sz="1400" b="1" dirty="0"/>
              <a:t>Por qué los elijo:</a:t>
            </a:r>
            <a:r>
              <a:rPr lang="es-AR" sz="1400" dirty="0"/>
              <a:t> Está ubicado levemente apartado del centro ruidoso (Ruta 52 km 3). Al tener estructura de cabañas/hotel boutique horizontal, cuenta con cocheras techadas y estacionamiento interno amplio dentro del predio privado. Excelente para revisar las motos y acomodar los bultos antes de encarar el regreso.</a:t>
            </a:r>
          </a:p>
          <a:p>
            <a:pPr marL="742950" lvl="1" indent="-285750">
              <a:buFont typeface="Arial" panose="020B0604020202020204" pitchFamily="34" charset="0"/>
              <a:buChar char="•"/>
            </a:pPr>
            <a:r>
              <a:rPr lang="es-AR" sz="1400" b="1" dirty="0"/>
              <a:t>Dirección:</a:t>
            </a:r>
            <a:r>
              <a:rPr lang="es-AR" sz="1400" dirty="0"/>
              <a:t> Av. San Martín s/n, Ruta 52 km 3, </a:t>
            </a:r>
            <a:r>
              <a:rPr lang="es-AR" sz="1400" dirty="0" err="1"/>
              <a:t>Purmamarca</a:t>
            </a:r>
            <a:r>
              <a:rPr lang="es-AR" sz="1400" dirty="0"/>
              <a:t>.</a:t>
            </a:r>
          </a:p>
          <a:p>
            <a:pPr marL="742950" lvl="1" indent="-285750">
              <a:buFont typeface="Arial" panose="020B0604020202020204" pitchFamily="34" charset="0"/>
              <a:buChar char="•"/>
            </a:pPr>
            <a:endParaRPr lang="es-AR" sz="1400" dirty="0"/>
          </a:p>
          <a:p>
            <a:pPr marL="742950" lvl="1" indent="-285750">
              <a:buFont typeface="Arial" panose="020B0604020202020204" pitchFamily="34" charset="0"/>
              <a:buChar char="•"/>
            </a:pPr>
            <a:r>
              <a:rPr lang="es-AR" sz="1400" dirty="0"/>
              <a:t>La casa del abuelo</a:t>
            </a:r>
          </a:p>
          <a:p>
            <a:pPr>
              <a:buNone/>
            </a:pPr>
            <a:r>
              <a:rPr lang="es-AR" sz="1400" b="1" dirty="0"/>
              <a:t>7. Cafayate (Noche 6 - Regreso en 2 tramos)</a:t>
            </a:r>
          </a:p>
          <a:p>
            <a:pPr>
              <a:buFont typeface="Arial" panose="020B0604020202020204" pitchFamily="34" charset="0"/>
              <a:buChar char="•"/>
            </a:pPr>
            <a:r>
              <a:rPr lang="es-AR" sz="1400" b="1" dirty="0"/>
              <a:t>Hotel Cafayate</a:t>
            </a:r>
            <a:endParaRPr lang="es-AR" sz="1400" dirty="0"/>
          </a:p>
          <a:p>
            <a:pPr marL="742950" lvl="1" indent="-285750">
              <a:buFont typeface="Arial" panose="020B0604020202020204" pitchFamily="34" charset="0"/>
              <a:buChar char="•"/>
            </a:pPr>
            <a:r>
              <a:rPr lang="es-AR" sz="1400" b="1" dirty="0"/>
              <a:t>Por qué los elijo:</a:t>
            </a:r>
            <a:r>
              <a:rPr lang="es-AR" sz="1400" dirty="0"/>
              <a:t> Clásico del pueblo, habitaciones amplias, muy buena piscina para relajar el último día y cocheras privadas cerradas donde entran perfectamente las motos y quedan protegidas.</a:t>
            </a:r>
          </a:p>
          <a:p>
            <a:pPr marL="742950" lvl="1" indent="-285750">
              <a:buFont typeface="Arial" panose="020B0604020202020204" pitchFamily="34" charset="0"/>
              <a:buChar char="•"/>
            </a:pPr>
            <a:r>
              <a:rPr lang="es-AR" sz="1400" b="1" dirty="0"/>
              <a:t>Dirección:</a:t>
            </a:r>
            <a:r>
              <a:rPr lang="es-AR" sz="1400" dirty="0"/>
              <a:t> Av. Gral. Güemes </a:t>
            </a:r>
            <a:r>
              <a:rPr lang="es-AR" sz="1400" dirty="0" err="1"/>
              <a:t>Nte</a:t>
            </a:r>
            <a:r>
              <a:rPr lang="es-AR" sz="1400" dirty="0"/>
              <a:t>. 398, Cafayate.</a:t>
            </a:r>
          </a:p>
          <a:p>
            <a:pPr marL="742950" lvl="1" indent="-285750">
              <a:buFont typeface="Arial" panose="020B0604020202020204" pitchFamily="34" charset="0"/>
              <a:buChar char="•"/>
            </a:pPr>
            <a:r>
              <a:rPr lang="es-AR" sz="1400" b="1" dirty="0"/>
              <a:t>Teléfono:</a:t>
            </a:r>
            <a:r>
              <a:rPr lang="es-AR" sz="1400" dirty="0"/>
              <a:t> +54 9 387 513-5028</a:t>
            </a:r>
          </a:p>
        </p:txBody>
      </p:sp>
    </p:spTree>
    <p:extLst>
      <p:ext uri="{BB962C8B-B14F-4D97-AF65-F5344CB8AC3E}">
        <p14:creationId xmlns:p14="http://schemas.microsoft.com/office/powerpoint/2010/main" val="8120863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11263</TotalTime>
  <Words>2453</Words>
  <Application>Microsoft Macintosh PowerPoint</Application>
  <PresentationFormat>Panorámica</PresentationFormat>
  <Paragraphs>109</Paragraphs>
  <Slides>15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Alojamiento </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santiagodebianchetti@gmail.com</dc:creator>
  <cp:lastModifiedBy>santiagodebianchetti@gmail.com</cp:lastModifiedBy>
  <cp:revision>5</cp:revision>
  <dcterms:created xsi:type="dcterms:W3CDTF">2026-04-12T17:57:09Z</dcterms:created>
  <dcterms:modified xsi:type="dcterms:W3CDTF">2026-05-26T21:11:43Z</dcterms:modified>
</cp:coreProperties>
</file>